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307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73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2500" dirty="0"/>
          </a:p>
        </p:txBody>
      </p:sp>
      <p:pic>
        <p:nvPicPr>
          <p:cNvPr id="5" name="Image 0" descr="/home/claude/work/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46304"/>
            <a:ext cx="1371600" cy="647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86384"/>
            <a:ext cx="11460175" cy="0"/>
          </a:xfrm>
          <a:prstGeom prst="line">
            <a:avLst/>
          </a:prstGeom>
          <a:noFill/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r>
              <a:rPr lang="en-US" sz="1400" b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SIH26037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74650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Problem Statement Title: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Path Planning and Collision Avoidance for Autonomous Vehicles on Unstructured Indian Roads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22199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Theme: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736550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PS Category: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19" y="321203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Organization: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MathWorks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18" y="367588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Department: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r>
              <a:rPr lang="en-US" sz="14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17" y="4190446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</a:t>
            </a: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SIH-A0H-377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16" y="4700016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portal):  </a:t>
            </a: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565099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576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9CD68300-47BE-C55E-2599-E4CB2DEE4407}"/>
              </a:ext>
            </a:extLst>
          </p:cNvPr>
          <p:cNvSpPr/>
          <p:nvPr/>
        </p:nvSpPr>
        <p:spPr>
          <a:xfrm>
            <a:off x="7701742" y="2221992"/>
            <a:ext cx="3383280" cy="3794760"/>
          </a:xfrm>
          <a:prstGeom prst="hexagon">
            <a:avLst/>
          </a:prstGeom>
          <a:solidFill>
            <a:srgbClr val="F1F3F5"/>
          </a:solidFill>
          <a:ln/>
        </p:spPr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68EF86EB-3E47-ED0C-AABB-85A2B8F8B44C}"/>
              </a:ext>
            </a:extLst>
          </p:cNvPr>
          <p:cNvSpPr/>
          <p:nvPr/>
        </p:nvSpPr>
        <p:spPr>
          <a:xfrm>
            <a:off x="6584719" y="3776472"/>
            <a:ext cx="1828800" cy="2057400"/>
          </a:xfrm>
          <a:prstGeom prst="hexagon">
            <a:avLst/>
          </a:prstGeom>
          <a:solidFill>
            <a:srgbClr val="E7EAED"/>
          </a:solidFill>
          <a:ln/>
        </p:spPr>
      </p:sp>
      <p:pic>
        <p:nvPicPr>
          <p:cNvPr id="26" name="Image 1" descr="sih_icon_final.png">
            <a:extLst>
              <a:ext uri="{FF2B5EF4-FFF2-40B4-BE49-F238E27FC236}">
                <a16:creationId xmlns:a16="http://schemas.microsoft.com/office/drawing/2014/main" id="{9C1412A2-F6E3-FA95-5567-34D3F373F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822" y="2925680"/>
            <a:ext cx="2103120" cy="23873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73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500" dirty="0"/>
          </a:p>
        </p:txBody>
      </p:sp>
      <p:pic>
        <p:nvPicPr>
          <p:cNvPr id="5" name="Image 0" descr="/home/claude/work/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46304"/>
            <a:ext cx="1371600" cy="647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86384"/>
            <a:ext cx="11460175" cy="0"/>
          </a:xfrm>
          <a:prstGeom prst="line">
            <a:avLst/>
          </a:prstGeom>
          <a:noFill/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365760" y="1252728"/>
            <a:ext cx="1170432" cy="66751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393192" y="1417320"/>
            <a:ext cx="1115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554480" y="1570066"/>
            <a:ext cx="262955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1835723" y="1252728"/>
            <a:ext cx="1170432" cy="66751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1863155" y="1417320"/>
            <a:ext cx="1115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USER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024443" y="1555519"/>
            <a:ext cx="262955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3305687" y="1252728"/>
            <a:ext cx="1170432" cy="66751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3333119" y="1417320"/>
            <a:ext cx="1115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494407" y="1555519"/>
            <a:ext cx="262955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16"/>
          <p:cNvSpPr/>
          <p:nvPr/>
        </p:nvSpPr>
        <p:spPr>
          <a:xfrm>
            <a:off x="4775650" y="1252728"/>
            <a:ext cx="1170432" cy="66751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 18"/>
          <p:cNvSpPr/>
          <p:nvPr/>
        </p:nvSpPr>
        <p:spPr>
          <a:xfrm>
            <a:off x="4803082" y="1417320"/>
            <a:ext cx="1115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982658" y="1555519"/>
            <a:ext cx="262955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0"/>
          <p:cNvSpPr/>
          <p:nvPr/>
        </p:nvSpPr>
        <p:spPr>
          <a:xfrm>
            <a:off x="6245613" y="1252728"/>
            <a:ext cx="1170432" cy="66751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2"/>
          <p:cNvSpPr/>
          <p:nvPr/>
        </p:nvSpPr>
        <p:spPr>
          <a:xfrm>
            <a:off x="6273045" y="1417320"/>
            <a:ext cx="1115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7452622" y="1555519"/>
            <a:ext cx="262955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24"/>
          <p:cNvSpPr/>
          <p:nvPr/>
        </p:nvSpPr>
        <p:spPr>
          <a:xfrm>
            <a:off x="7715577" y="1252728"/>
            <a:ext cx="1170432" cy="66751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6"/>
          <p:cNvSpPr/>
          <p:nvPr/>
        </p:nvSpPr>
        <p:spPr>
          <a:xfrm>
            <a:off x="7743009" y="1417320"/>
            <a:ext cx="1115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PATH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8922585" y="1555519"/>
            <a:ext cx="262955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Shape 28"/>
          <p:cNvSpPr/>
          <p:nvPr/>
        </p:nvSpPr>
        <p:spPr>
          <a:xfrm>
            <a:off x="9185540" y="1252728"/>
            <a:ext cx="1170432" cy="66751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0"/>
          <p:cNvSpPr/>
          <p:nvPr/>
        </p:nvSpPr>
        <p:spPr>
          <a:xfrm>
            <a:off x="9212972" y="1417320"/>
            <a:ext cx="1115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10374260" y="1570066"/>
            <a:ext cx="262955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2" name="Shape 32"/>
          <p:cNvSpPr/>
          <p:nvPr/>
        </p:nvSpPr>
        <p:spPr>
          <a:xfrm>
            <a:off x="10655503" y="1252728"/>
            <a:ext cx="1170432" cy="66751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34"/>
          <p:cNvSpPr/>
          <p:nvPr/>
        </p:nvSpPr>
        <p:spPr>
          <a:xfrm>
            <a:off x="10682935" y="1417320"/>
            <a:ext cx="11155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365760" y="2377440"/>
            <a:ext cx="3685946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Text 38"/>
          <p:cNvSpPr/>
          <p:nvPr/>
        </p:nvSpPr>
        <p:spPr>
          <a:xfrm>
            <a:off x="987552" y="2551176"/>
            <a:ext cx="28629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51" name="Text 39"/>
          <p:cNvSpPr/>
          <p:nvPr/>
        </p:nvSpPr>
        <p:spPr>
          <a:xfrm>
            <a:off x="566928" y="3035808"/>
            <a:ext cx="328361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roads have irregular, non-lane-based traffic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users may change direction suddenly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reactive planning may respond too late</a:t>
            </a:r>
            <a:endParaRPr lang="en-US" sz="1100" dirty="0"/>
          </a:p>
        </p:txBody>
      </p:sp>
      <p:sp>
        <p:nvSpPr>
          <p:cNvPr id="52" name="Shape 40"/>
          <p:cNvSpPr/>
          <p:nvPr/>
        </p:nvSpPr>
        <p:spPr>
          <a:xfrm>
            <a:off x="4252874" y="2377440"/>
            <a:ext cx="3685946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4" name="Image 10" descr="/home/claude/work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109" y="2652674"/>
            <a:ext cx="181051" cy="181051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4874666" y="2551176"/>
            <a:ext cx="28629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56" name="Text 43"/>
          <p:cNvSpPr/>
          <p:nvPr/>
        </p:nvSpPr>
        <p:spPr>
          <a:xfrm>
            <a:off x="4454042" y="3035808"/>
            <a:ext cx="328361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perception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Road-user tracking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intention prediction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estimation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collision-free planning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real-time replanning</a:t>
            </a:r>
            <a:endParaRPr lang="en-US" sz="1100" dirty="0"/>
          </a:p>
        </p:txBody>
      </p:sp>
      <p:sp>
        <p:nvSpPr>
          <p:cNvPr id="57" name="Shape 44"/>
          <p:cNvSpPr/>
          <p:nvPr/>
        </p:nvSpPr>
        <p:spPr>
          <a:xfrm>
            <a:off x="8139989" y="2377440"/>
            <a:ext cx="3685946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0" name="Text 46"/>
          <p:cNvSpPr/>
          <p:nvPr/>
        </p:nvSpPr>
        <p:spPr>
          <a:xfrm>
            <a:off x="8761781" y="2551176"/>
            <a:ext cx="28629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DIFFERENT</a:t>
            </a:r>
            <a:endParaRPr lang="en-US" sz="1300" dirty="0"/>
          </a:p>
        </p:txBody>
      </p:sp>
      <p:sp>
        <p:nvSpPr>
          <p:cNvPr id="61" name="Text 47"/>
          <p:cNvSpPr/>
          <p:nvPr/>
        </p:nvSpPr>
        <p:spPr>
          <a:xfrm>
            <a:off x="8341157" y="3035808"/>
            <a:ext cx="328361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likely road-user behaviour before the manoeuvre occurs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movement history and interaction patterns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predicted behaviour into future risk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earlier and smoother path replanning</a:t>
            </a:r>
            <a:endParaRPr lang="en-US" sz="1100" dirty="0"/>
          </a:p>
        </p:txBody>
      </p:sp>
      <p:sp>
        <p:nvSpPr>
          <p:cNvPr id="62" name="Shape 48"/>
          <p:cNvSpPr/>
          <p:nvPr/>
        </p:nvSpPr>
        <p:spPr>
          <a:xfrm>
            <a:off x="365760" y="5971032"/>
            <a:ext cx="11460175" cy="457200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Text 49"/>
          <p:cNvSpPr/>
          <p:nvPr/>
        </p:nvSpPr>
        <p:spPr>
          <a:xfrm>
            <a:off x="640080" y="597103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reacting to obstacles to anticipating road-user behaviour.”</a:t>
            </a:r>
            <a:endParaRPr lang="en-US" sz="1300" dirty="0"/>
          </a:p>
        </p:txBody>
      </p:sp>
      <p:sp>
        <p:nvSpPr>
          <p:cNvPr id="64" name="Text 50"/>
          <p:cNvSpPr/>
          <p:nvPr/>
        </p:nvSpPr>
        <p:spPr>
          <a:xfrm>
            <a:off x="36576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5" name="Text 51"/>
          <p:cNvSpPr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73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500" dirty="0"/>
          </a:p>
        </p:txBody>
      </p:sp>
      <p:pic>
        <p:nvPicPr>
          <p:cNvPr id="5" name="Image 0" descr="/home/claude/work/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46304"/>
            <a:ext cx="1371600" cy="647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86384"/>
            <a:ext cx="11460175" cy="0"/>
          </a:xfrm>
          <a:prstGeom prst="line">
            <a:avLst/>
          </a:prstGeom>
          <a:noFill/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365760" y="960120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987552" y="1133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66928" y="1618488"/>
            <a:ext cx="316382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/ Scene Information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148840" y="2665476"/>
            <a:ext cx="0" cy="109728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65760" y="2788920"/>
            <a:ext cx="3566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1"/>
          <p:cNvSpPr/>
          <p:nvPr/>
        </p:nvSpPr>
        <p:spPr>
          <a:xfrm>
            <a:off x="987552" y="29626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66928" y="3447288"/>
            <a:ext cx="31638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Tracking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Drivable Space / Road Edge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114800" y="960120"/>
            <a:ext cx="3566160" cy="2103120"/>
          </a:xfrm>
          <a:prstGeom prst="rect">
            <a:avLst/>
          </a:prstGeom>
          <a:solidFill>
            <a:schemeClr val="bg1"/>
          </a:solidFill>
          <a:ln w="12700">
            <a:solidFill>
              <a:srgbClr val="DDE3E3"/>
            </a:solidFill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5"/>
          <p:cNvSpPr/>
          <p:nvPr/>
        </p:nvSpPr>
        <p:spPr>
          <a:xfrm>
            <a:off x="4736592" y="1133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 PREDICTION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315968" y="1618488"/>
            <a:ext cx="31638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History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Change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Position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Interaction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897880" y="3076956"/>
            <a:ext cx="0" cy="109728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18"/>
          <p:cNvSpPr/>
          <p:nvPr/>
        </p:nvSpPr>
        <p:spPr>
          <a:xfrm>
            <a:off x="4114800" y="3200400"/>
            <a:ext cx="35661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0"/>
          <p:cNvSpPr/>
          <p:nvPr/>
        </p:nvSpPr>
        <p:spPr>
          <a:xfrm>
            <a:off x="4736592" y="33741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BEHAVIOUR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315968" y="3858768"/>
            <a:ext cx="31638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Continue, Slow Down, Stop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Turn, Merge, Cross, Cut-in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863840" y="96012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4"/>
          <p:cNvSpPr/>
          <p:nvPr/>
        </p:nvSpPr>
        <p:spPr>
          <a:xfrm>
            <a:off x="8348472" y="106984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ESTIMATION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8001000" y="1426464"/>
            <a:ext cx="3291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Time-to-Collision, Distance, Relative Velocity</a:t>
            </a:r>
            <a:endParaRPr lang="en-US" sz="900" dirty="0"/>
          </a:p>
          <a:p>
            <a:pPr marL="152400" indent="-1524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Path Overlap, Prediction Uncertainty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9646920" y="2020824"/>
            <a:ext cx="0" cy="9144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27"/>
          <p:cNvSpPr/>
          <p:nvPr/>
        </p:nvSpPr>
        <p:spPr>
          <a:xfrm>
            <a:off x="7863840" y="2121408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29"/>
          <p:cNvSpPr/>
          <p:nvPr/>
        </p:nvSpPr>
        <p:spPr>
          <a:xfrm>
            <a:off x="8348472" y="223113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PLANNER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8001000" y="2587752"/>
            <a:ext cx="3291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Path Generation</a:t>
            </a:r>
            <a:endParaRPr lang="en-US" sz="900" dirty="0"/>
          </a:p>
          <a:p>
            <a:pPr marL="152400" indent="-1524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Scoring, Safe Path Selection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9646920" y="3182112"/>
            <a:ext cx="0" cy="9144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1" name="Shape 32"/>
          <p:cNvSpPr/>
          <p:nvPr/>
        </p:nvSpPr>
        <p:spPr>
          <a:xfrm>
            <a:off x="7863840" y="3282696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Text 34"/>
          <p:cNvSpPr/>
          <p:nvPr/>
        </p:nvSpPr>
        <p:spPr>
          <a:xfrm>
            <a:off x="8348472" y="339242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CONTROL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8001000" y="3749040"/>
            <a:ext cx="3291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Steering, Speed, Braking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365760" y="4709160"/>
            <a:ext cx="11460175" cy="457200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Text 37"/>
          <p:cNvSpPr/>
          <p:nvPr/>
        </p:nvSpPr>
        <p:spPr>
          <a:xfrm>
            <a:off x="548640" y="4709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 </a:t>
            </a: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Sensor Data  →  Update Prediction  →  Update Risk  →  Replan</a:t>
            </a:r>
            <a:endParaRPr lang="en-US" sz="1150" dirty="0"/>
          </a:p>
        </p:txBody>
      </p:sp>
      <p:sp>
        <p:nvSpPr>
          <p:cNvPr id="48" name="Shape 38"/>
          <p:cNvSpPr/>
          <p:nvPr/>
        </p:nvSpPr>
        <p:spPr>
          <a:xfrm>
            <a:off x="365760" y="5276088"/>
            <a:ext cx="11460175" cy="457200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Text 39"/>
          <p:cNvSpPr/>
          <p:nvPr/>
        </p:nvSpPr>
        <p:spPr>
          <a:xfrm>
            <a:off x="548640" y="52760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   </a:t>
            </a: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  |   Simulink   |   RoadRunner   |   Automated Driving Toolbox   |   Navigation Toolbox   |   Stateflow   |   Deep Learning Toolbox</a:t>
            </a:r>
            <a:endParaRPr lang="en-US" sz="1050" dirty="0"/>
          </a:p>
        </p:txBody>
      </p:sp>
      <p:sp>
        <p:nvSpPr>
          <p:cNvPr id="50" name="Text 40"/>
          <p:cNvSpPr/>
          <p:nvPr/>
        </p:nvSpPr>
        <p:spPr>
          <a:xfrm>
            <a:off x="36576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51" name="Text 41"/>
          <p:cNvSpPr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73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500" dirty="0"/>
          </a:p>
        </p:txBody>
      </p:sp>
      <p:pic>
        <p:nvPicPr>
          <p:cNvPr id="5" name="Image 0" descr="/home/claude/work/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46304"/>
            <a:ext cx="1371600" cy="647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86384"/>
            <a:ext cx="11460175" cy="0"/>
          </a:xfrm>
          <a:prstGeom prst="line">
            <a:avLst/>
          </a:prstGeom>
          <a:noFill/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365760" y="960120"/>
            <a:ext cx="3685946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987552" y="1133856"/>
            <a:ext cx="28629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66928" y="1618488"/>
            <a:ext cx="328361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simulation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Road-user tracking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intention prediction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planning pipeline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MATLAB/Simulink simulation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52874" y="960120"/>
            <a:ext cx="3685946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4856378" y="1133856"/>
            <a:ext cx="2862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FLOW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444898" y="17432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801514" y="1645920"/>
            <a:ext cx="2908706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444898" y="219390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801514" y="2096589"/>
            <a:ext cx="2908706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444898" y="26445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801514" y="2547257"/>
            <a:ext cx="2908706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 Features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444898" y="30952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801514" y="2997926"/>
            <a:ext cx="2908706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Prediction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444898" y="35459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801514" y="3448594"/>
            <a:ext cx="2908706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Estimation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444898" y="399658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4801514" y="3899263"/>
            <a:ext cx="2908706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Generation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444898" y="44472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801514" y="4349931"/>
            <a:ext cx="2908706" cy="4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Replanning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8139989" y="960120"/>
            <a:ext cx="3685946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Text 34"/>
          <p:cNvSpPr/>
          <p:nvPr/>
        </p:nvSpPr>
        <p:spPr>
          <a:xfrm>
            <a:off x="8743493" y="1133856"/>
            <a:ext cx="2862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→ MITIGATION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8341157" y="1618488"/>
            <a:ext cx="328361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movement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Probabilistic intention prediction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8341157" y="2249424"/>
            <a:ext cx="328361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labelled data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Synthetic scenario generation + available datasets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8341157" y="2880360"/>
            <a:ext cx="328361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prediction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Confidence score + continuous updates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8341157" y="3511296"/>
            <a:ext cx="328361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obstacles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Emergency replanning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8341157" y="4142232"/>
            <a:ext cx="328361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delay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Lightweight short prediction horizon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365760" y="5120640"/>
            <a:ext cx="11460175" cy="548640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Text 41"/>
          <p:cNvSpPr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SCENARIOS    </a:t>
            </a: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Unmarked Village Road   |   Busy Unsignalized Intersection   |   Highway Merge   |   Dense Market Area   |   Cattle Crossing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36576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73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IMPACTS AND BENEFITS</a:t>
            </a:r>
            <a:endParaRPr lang="en-US" sz="2500" dirty="0"/>
          </a:p>
        </p:txBody>
      </p:sp>
      <p:pic>
        <p:nvPicPr>
          <p:cNvPr id="5" name="Image 0" descr="/home/claude/work/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46304"/>
            <a:ext cx="1371600" cy="647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86384"/>
            <a:ext cx="11460175" cy="0"/>
          </a:xfrm>
          <a:prstGeom prst="line">
            <a:avLst/>
          </a:prstGeom>
          <a:noFill/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554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DRIVING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78728" y="960120"/>
            <a:ext cx="554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DRIVING — OUR APPROACH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5760" y="1371600"/>
            <a:ext cx="5547208" cy="551688"/>
          </a:xfrm>
          <a:prstGeom prst="rect">
            <a:avLst/>
          </a:prstGeom>
          <a:solidFill>
            <a:srgbClr val="F2F2F2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365760" y="1371600"/>
            <a:ext cx="5547208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obstacle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39364" y="1932432"/>
            <a:ext cx="0" cy="9144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65760" y="2033016"/>
            <a:ext cx="5547208" cy="551688"/>
          </a:xfrm>
          <a:prstGeom prst="rect">
            <a:avLst/>
          </a:prstGeom>
          <a:solidFill>
            <a:srgbClr val="F2F2F2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65760" y="2033016"/>
            <a:ext cx="5547208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39364" y="2593848"/>
            <a:ext cx="0" cy="9144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365760" y="2694432"/>
            <a:ext cx="5547208" cy="551688"/>
          </a:xfrm>
          <a:prstGeom prst="rect">
            <a:avLst/>
          </a:prstGeom>
          <a:solidFill>
            <a:srgbClr val="F2F2F2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365760" y="2694432"/>
            <a:ext cx="5547208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78728" y="1371600"/>
            <a:ext cx="5547208" cy="28712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278728" y="1371600"/>
            <a:ext cx="5547208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road user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52331" y="1667866"/>
            <a:ext cx="0" cy="9144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278728" y="1768450"/>
            <a:ext cx="5547208" cy="28712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278728" y="1768450"/>
            <a:ext cx="5547208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intention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052331" y="2064715"/>
            <a:ext cx="0" cy="9144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6278728" y="2165299"/>
            <a:ext cx="5547208" cy="28712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6278728" y="2165299"/>
            <a:ext cx="5547208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future risk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052331" y="2461565"/>
            <a:ext cx="0" cy="9144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3"/>
          <p:cNvSpPr/>
          <p:nvPr/>
        </p:nvSpPr>
        <p:spPr>
          <a:xfrm>
            <a:off x="6278728" y="2562149"/>
            <a:ext cx="5547208" cy="28712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6278728" y="2562149"/>
            <a:ext cx="5547208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early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052331" y="2858414"/>
            <a:ext cx="0" cy="9144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6278728" y="2958998"/>
            <a:ext cx="5547208" cy="28712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6278728" y="2958998"/>
            <a:ext cx="5547208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65760" y="3735532"/>
            <a:ext cx="2174992" cy="97362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0"/>
          <p:cNvSpPr/>
          <p:nvPr/>
        </p:nvSpPr>
        <p:spPr>
          <a:xfrm>
            <a:off x="438912" y="4032504"/>
            <a:ext cx="202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RESPONSE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57200" y="4325112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time to react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2687056" y="3735532"/>
            <a:ext cx="2174992" cy="97362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4"/>
          <p:cNvSpPr/>
          <p:nvPr/>
        </p:nvSpPr>
        <p:spPr>
          <a:xfrm>
            <a:off x="2760208" y="4032504"/>
            <a:ext cx="202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PATHS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2778496" y="4325112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considers predicted movement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5008352" y="3735532"/>
            <a:ext cx="2174992" cy="97362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38"/>
          <p:cNvSpPr/>
          <p:nvPr/>
        </p:nvSpPr>
        <p:spPr>
          <a:xfrm>
            <a:off x="5081504" y="4032504"/>
            <a:ext cx="202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DRIVING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5099792" y="4325112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sudden braking and steering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329648" y="3735532"/>
            <a:ext cx="2174992" cy="97362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2"/>
          <p:cNvSpPr/>
          <p:nvPr/>
        </p:nvSpPr>
        <p:spPr>
          <a:xfrm>
            <a:off x="7402800" y="4032504"/>
            <a:ext cx="202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INDIAN-ROAD ADAPTABILITY</a:t>
            </a:r>
            <a:endParaRPr lang="en-US" sz="1200" dirty="0"/>
          </a:p>
        </p:txBody>
      </p:sp>
      <p:sp>
        <p:nvSpPr>
          <p:cNvPr id="50" name="Text 43"/>
          <p:cNvSpPr/>
          <p:nvPr/>
        </p:nvSpPr>
        <p:spPr>
          <a:xfrm>
            <a:off x="7421088" y="4325112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irregular, non-lane-based movement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9650943" y="3735532"/>
            <a:ext cx="2174992" cy="97362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46"/>
          <p:cNvSpPr/>
          <p:nvPr/>
        </p:nvSpPr>
        <p:spPr>
          <a:xfrm>
            <a:off x="9724095" y="4032504"/>
            <a:ext cx="202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ROBUSTNESS</a:t>
            </a:r>
            <a:endParaRPr lang="en-US" sz="1200" dirty="0"/>
          </a:p>
        </p:txBody>
      </p:sp>
      <p:sp>
        <p:nvSpPr>
          <p:cNvPr id="55" name="Text 47"/>
          <p:cNvSpPr/>
          <p:nvPr/>
        </p:nvSpPr>
        <p:spPr>
          <a:xfrm>
            <a:off x="9742383" y="4325112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updates prediction and planning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365760" y="4892040"/>
            <a:ext cx="11460175" cy="56692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Text 49"/>
          <p:cNvSpPr/>
          <p:nvPr/>
        </p:nvSpPr>
        <p:spPr>
          <a:xfrm>
            <a:off x="594360" y="489204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tells us WHERE a road user is.  Intention prediction estimates WHAT they may do next.</a:t>
            </a:r>
            <a:endParaRPr lang="en-US" sz="1200" dirty="0"/>
          </a:p>
        </p:txBody>
      </p:sp>
      <p:sp>
        <p:nvSpPr>
          <p:cNvPr id="58" name="Shape 50"/>
          <p:cNvSpPr/>
          <p:nvPr/>
        </p:nvSpPr>
        <p:spPr>
          <a:xfrm>
            <a:off x="365760" y="5605272"/>
            <a:ext cx="11460175" cy="420624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Text 51"/>
          <p:cNvSpPr/>
          <p:nvPr/>
        </p:nvSpPr>
        <p:spPr>
          <a:xfrm>
            <a:off x="640080" y="5605272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obstacle avoidance to behaviour-aware path planning.”</a:t>
            </a:r>
            <a:endParaRPr lang="en-US" sz="1250" dirty="0"/>
          </a:p>
        </p:txBody>
      </p:sp>
      <p:sp>
        <p:nvSpPr>
          <p:cNvPr id="60" name="Text 52"/>
          <p:cNvSpPr/>
          <p:nvPr/>
        </p:nvSpPr>
        <p:spPr>
          <a:xfrm>
            <a:off x="36576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1" name="Text 53"/>
          <p:cNvSpPr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73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500" dirty="0"/>
          </a:p>
        </p:txBody>
      </p:sp>
      <p:pic>
        <p:nvPicPr>
          <p:cNvPr id="5" name="Image 0" descr="/home/claude/work/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46304"/>
            <a:ext cx="1371600" cy="647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786384"/>
            <a:ext cx="11460175" cy="0"/>
          </a:xfrm>
          <a:prstGeom prst="line">
            <a:avLst/>
          </a:prstGeom>
          <a:noFill/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365760" y="960120"/>
            <a:ext cx="368594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987552" y="1133856"/>
            <a:ext cx="28629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SCENARIO SOURCES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66928" y="1618488"/>
            <a:ext cx="328361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Driving Dataset (IDD)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MathWorks Automated Driving Toolbox datasets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RoadRunner sample scenes</a:t>
            </a:r>
            <a:endParaRPr lang="en-US" sz="1100" dirty="0"/>
          </a:p>
          <a:p>
            <a:pPr marL="152400" indent="-152400" algn="l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Team-created synthetic Indian traffic scenarios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52874" y="960120"/>
            <a:ext cx="368594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4874666" y="1133856"/>
            <a:ext cx="28629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454042" y="1618488"/>
            <a:ext cx="3283610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 prediction accuracy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confidence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Collision-free completion rate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 latency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smoothness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obstacle distance</a:t>
            </a:r>
            <a:endParaRPr lang="en-US" sz="1000" dirty="0"/>
          </a:p>
          <a:p>
            <a:pPr marL="152400" indent="-152400" algn="l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completion rate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139989" y="960120"/>
            <a:ext cx="368594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3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4"/>
          <p:cNvSpPr/>
          <p:nvPr/>
        </p:nvSpPr>
        <p:spPr>
          <a:xfrm>
            <a:off x="8743493" y="1133856"/>
            <a:ext cx="2862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REQUIRED SCENARIOS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332013" y="1764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88629" y="1673352"/>
            <a:ext cx="29087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Unmarked village road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332013" y="2203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688629" y="2112264"/>
            <a:ext cx="29087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urban intersection without signals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332013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688629" y="2551176"/>
            <a:ext cx="29087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merge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8332013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688629" y="2990088"/>
            <a:ext cx="29087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market area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8332013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8688629" y="3429000"/>
            <a:ext cx="29087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cattle crossing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365760" y="4206240"/>
            <a:ext cx="11460175" cy="457200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 31"/>
          <p:cNvSpPr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  </a:t>
            </a: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  |   Simulink   |   RoadRunner   |   Automated Driving Toolbox   |   Navigation Toolbox   |   Stateflow   |   Deep Learning Toolbox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365760" y="4828032"/>
            <a:ext cx="11460175" cy="621792"/>
          </a:xfrm>
          <a:prstGeom prst="rect">
            <a:avLst/>
          </a:prstGeom>
          <a:solidFill>
            <a:srgbClr val="F5F7F7"/>
          </a:solidFill>
          <a:ln w="12700">
            <a:solidFill>
              <a:srgbClr val="DDE3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3"/>
          <p:cNvSpPr/>
          <p:nvPr/>
        </p:nvSpPr>
        <p:spPr>
          <a:xfrm>
            <a:off x="640080" y="4828032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“Closed-loop validation of predictive and adaptive autonomous driving under realistic Indian mixed-traffic conditions.”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36576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599</Words>
  <Application>Microsoft Office PowerPoint</Application>
  <PresentationFormat>Widescreen</PresentationFormat>
  <Paragraphs>174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MITHUN DEVARAJ</cp:lastModifiedBy>
  <cp:revision>15</cp:revision>
  <dcterms:created xsi:type="dcterms:W3CDTF">2026-09-13T12:22:49Z</dcterms:created>
  <dcterms:modified xsi:type="dcterms:W3CDTF">2026-09-14T10:23:04Z</dcterms:modified>
</cp:coreProperties>
</file>