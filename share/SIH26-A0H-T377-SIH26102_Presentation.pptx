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 /><Relationship Id="rId2" Type="http://schemas.openxmlformats.org/package/2006/relationships/metadata/core-properties" Target="docProps/core.xml" /><Relationship Id="rId1" Type="http://schemas.openxmlformats.org/officeDocument/2006/relationships/officeDocument" Target="ppt/presentation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193" autoAdjust="0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61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 /><Relationship Id="rId3" Type="http://schemas.openxmlformats.org/officeDocument/2006/relationships/slide" Target="slides/slide2.xml" /><Relationship Id="rId7" Type="http://schemas.openxmlformats.org/officeDocument/2006/relationships/slide" Target="slides/slide6.xml" /><Relationship Id="rId12" Type="http://schemas.openxmlformats.org/officeDocument/2006/relationships/tableStyles" Target="tableStyles.xml" /><Relationship Id="rId2" Type="http://schemas.openxmlformats.org/officeDocument/2006/relationships/slide" Target="slides/slid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theme" Target="theme/theme1.xml" /><Relationship Id="rId5" Type="http://schemas.openxmlformats.org/officeDocument/2006/relationships/slide" Target="slides/slide4.xml" /><Relationship Id="rId10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presProps" Target="presProps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63656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 /><Relationship Id="rId1" Type="http://schemas.openxmlformats.org/officeDocument/2006/relationships/slideLayout" Target="../slideLayouts/slideLayout1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 /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1.xml" /><Relationship Id="rId4" Type="http://schemas.openxmlformats.org/officeDocument/2006/relationships/image" Target="../media/image2.png" 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 /><Relationship Id="rId3" Type="http://schemas.openxmlformats.org/officeDocument/2006/relationships/image" Target="../media/image1.png" /><Relationship Id="rId7" Type="http://schemas.openxmlformats.org/officeDocument/2006/relationships/image" Target="../media/image6.png" /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5.png" /><Relationship Id="rId11" Type="http://schemas.openxmlformats.org/officeDocument/2006/relationships/image" Target="../media/image10.png" /><Relationship Id="rId5" Type="http://schemas.openxmlformats.org/officeDocument/2006/relationships/image" Target="../media/image4.png" /><Relationship Id="rId10" Type="http://schemas.openxmlformats.org/officeDocument/2006/relationships/image" Target="../media/image9.png" /><Relationship Id="rId4" Type="http://schemas.openxmlformats.org/officeDocument/2006/relationships/image" Target="../media/image3.png" /><Relationship Id="rId9" Type="http://schemas.openxmlformats.org/officeDocument/2006/relationships/image" Target="../media/image8.png" 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 /><Relationship Id="rId13" Type="http://schemas.openxmlformats.org/officeDocument/2006/relationships/image" Target="../media/image5.png" /><Relationship Id="rId18" Type="http://schemas.openxmlformats.org/officeDocument/2006/relationships/image" Target="../media/image21.png" /><Relationship Id="rId3" Type="http://schemas.openxmlformats.org/officeDocument/2006/relationships/image" Target="../media/image1.png" /><Relationship Id="rId7" Type="http://schemas.openxmlformats.org/officeDocument/2006/relationships/image" Target="../media/image13.png" /><Relationship Id="rId12" Type="http://schemas.openxmlformats.org/officeDocument/2006/relationships/image" Target="../media/image18.png" /><Relationship Id="rId17" Type="http://schemas.openxmlformats.org/officeDocument/2006/relationships/image" Target="../media/image20.png" /><Relationship Id="rId2" Type="http://schemas.openxmlformats.org/officeDocument/2006/relationships/notesSlide" Target="../notesSlides/notesSlide3.xml" /><Relationship Id="rId16" Type="http://schemas.openxmlformats.org/officeDocument/2006/relationships/image" Target="../media/image19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12.png" /><Relationship Id="rId11" Type="http://schemas.openxmlformats.org/officeDocument/2006/relationships/image" Target="../media/image17.png" /><Relationship Id="rId5" Type="http://schemas.openxmlformats.org/officeDocument/2006/relationships/image" Target="../media/image11.png" /><Relationship Id="rId15" Type="http://schemas.openxmlformats.org/officeDocument/2006/relationships/image" Target="../media/image7.png" /><Relationship Id="rId10" Type="http://schemas.openxmlformats.org/officeDocument/2006/relationships/image" Target="../media/image16.png" /><Relationship Id="rId4" Type="http://schemas.openxmlformats.org/officeDocument/2006/relationships/image" Target="../media/image3.png" /><Relationship Id="rId9" Type="http://schemas.openxmlformats.org/officeDocument/2006/relationships/image" Target="../media/image15.png" /><Relationship Id="rId14" Type="http://schemas.openxmlformats.org/officeDocument/2006/relationships/image" Target="../media/image6.png" 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 /><Relationship Id="rId3" Type="http://schemas.openxmlformats.org/officeDocument/2006/relationships/image" Target="../media/image1.png" /><Relationship Id="rId7" Type="http://schemas.openxmlformats.org/officeDocument/2006/relationships/image" Target="../media/image25.png" /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24.png" /><Relationship Id="rId5" Type="http://schemas.openxmlformats.org/officeDocument/2006/relationships/image" Target="../media/image23.png" /><Relationship Id="rId4" Type="http://schemas.openxmlformats.org/officeDocument/2006/relationships/image" Target="../media/image22.png" /><Relationship Id="rId9" Type="http://schemas.openxmlformats.org/officeDocument/2006/relationships/image" Target="../media/image27.png" 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 /><Relationship Id="rId13" Type="http://schemas.openxmlformats.org/officeDocument/2006/relationships/image" Target="../media/image32.png" /><Relationship Id="rId3" Type="http://schemas.openxmlformats.org/officeDocument/2006/relationships/image" Target="../media/image1.png" /><Relationship Id="rId7" Type="http://schemas.openxmlformats.org/officeDocument/2006/relationships/image" Target="../media/image14.png" /><Relationship Id="rId12" Type="http://schemas.openxmlformats.org/officeDocument/2006/relationships/image" Target="../media/image31.png" /><Relationship Id="rId2" Type="http://schemas.openxmlformats.org/officeDocument/2006/relationships/notesSlide" Target="../notesSlides/notesSlide5.xml" /><Relationship Id="rId16" Type="http://schemas.openxmlformats.org/officeDocument/2006/relationships/image" Target="../media/image27.png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5.png" /><Relationship Id="rId11" Type="http://schemas.openxmlformats.org/officeDocument/2006/relationships/image" Target="../media/image30.png" /><Relationship Id="rId5" Type="http://schemas.openxmlformats.org/officeDocument/2006/relationships/image" Target="../media/image28.png" /><Relationship Id="rId15" Type="http://schemas.openxmlformats.org/officeDocument/2006/relationships/image" Target="../media/image34.png" /><Relationship Id="rId10" Type="http://schemas.openxmlformats.org/officeDocument/2006/relationships/image" Target="../media/image29.png" /><Relationship Id="rId4" Type="http://schemas.openxmlformats.org/officeDocument/2006/relationships/image" Target="../media/image3.png" /><Relationship Id="rId9" Type="http://schemas.openxmlformats.org/officeDocument/2006/relationships/image" Target="../media/image10.png" /><Relationship Id="rId14" Type="http://schemas.openxmlformats.org/officeDocument/2006/relationships/image" Target="../media/image33.png" 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 /><Relationship Id="rId3" Type="http://schemas.openxmlformats.org/officeDocument/2006/relationships/image" Target="../media/image1.png" /><Relationship Id="rId7" Type="http://schemas.openxmlformats.org/officeDocument/2006/relationships/image" Target="../media/image37.png" /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1.xml" /><Relationship Id="rId6" Type="http://schemas.openxmlformats.org/officeDocument/2006/relationships/image" Target="../media/image36.png" /><Relationship Id="rId5" Type="http://schemas.openxmlformats.org/officeDocument/2006/relationships/image" Target="../media/image35.png" /><Relationship Id="rId4" Type="http://schemas.openxmlformats.org/officeDocument/2006/relationships/image" Target="../media/image34.png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56032" y="256032"/>
            <a:ext cx="11679631" cy="6345936"/>
          </a:xfrm>
          <a:prstGeom prst="rect">
            <a:avLst/>
          </a:prstGeom>
          <a:ln w="15875">
            <a:solidFill>
              <a:srgbClr val="9AA7B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56873" y="448056"/>
            <a:ext cx="104779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B3B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INDIA HACKATHON 2026</a:t>
            </a:r>
            <a:endParaRPr lang="en-US" sz="2600" dirty="0"/>
          </a:p>
        </p:txBody>
      </p:sp>
      <p:pic>
        <p:nvPicPr>
          <p:cNvPr id="4" name="Image 0" descr="sih_ful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5655" y="292608"/>
            <a:ext cx="2103120" cy="99305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05156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TITLE PAGE</a:t>
            </a:r>
            <a:endParaRPr lang="en-US" sz="1900" dirty="0"/>
          </a:p>
        </p:txBody>
      </p:sp>
      <p:sp>
        <p:nvSpPr>
          <p:cNvPr id="6" name="Shape 3"/>
          <p:cNvSpPr/>
          <p:nvPr/>
        </p:nvSpPr>
        <p:spPr>
          <a:xfrm>
            <a:off x="7452360" y="1691640"/>
            <a:ext cx="3383280" cy="3794760"/>
          </a:xfrm>
          <a:prstGeom prst="hexagon">
            <a:avLst/>
          </a:prstGeom>
          <a:solidFill>
            <a:srgbClr val="F1F3F5"/>
          </a:solidFill>
          <a:ln/>
        </p:spPr>
      </p:sp>
      <p:sp>
        <p:nvSpPr>
          <p:cNvPr id="7" name="Shape 4"/>
          <p:cNvSpPr/>
          <p:nvPr/>
        </p:nvSpPr>
        <p:spPr>
          <a:xfrm>
            <a:off x="6309360" y="3246120"/>
            <a:ext cx="1828800" cy="2057400"/>
          </a:xfrm>
          <a:prstGeom prst="hexagon">
            <a:avLst/>
          </a:prstGeom>
          <a:solidFill>
            <a:srgbClr val="E7EAED"/>
          </a:solidFill>
          <a:ln/>
        </p:spPr>
      </p:sp>
      <p:pic>
        <p:nvPicPr>
          <p:cNvPr id="8" name="Image 1" descr="sih_icon_fina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2440" y="2395328"/>
            <a:ext cx="2103120" cy="238738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187452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ID:  </a:t>
            </a:r>
            <a:r>
              <a:rPr lang="en-US" sz="12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26102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40080" y="2386584"/>
            <a:ext cx="6309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Title:  </a:t>
            </a:r>
            <a:r>
              <a:rPr lang="en-US" sz="12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of an AI-powered system to detect anomalies, fraud, and inefficiencies in MPLAD Scheme implementation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40080" y="30632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Theme:  </a:t>
            </a:r>
            <a:r>
              <a:rPr lang="en-US" sz="12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Automation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640080" y="3575304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Category:  </a:t>
            </a:r>
            <a:r>
              <a:rPr lang="en-US" sz="12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40080" y="414223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Department:  </a:t>
            </a:r>
            <a:r>
              <a:rPr lang="en-US" sz="12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Informatics &amp; Innovation Division (DIID)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40080" y="4690872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ID: </a:t>
            </a:r>
            <a:r>
              <a:rPr lang="en-IN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IN" sz="1250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SIH26-A0H-T377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40080" y="5233693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●"/>
            </a:pPr>
            <a:r>
              <a:rPr lang="en-US" sz="12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Name (Registered on portal):  </a:t>
            </a:r>
            <a:r>
              <a:rPr lang="en-US" sz="125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CREW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0B3B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CREW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554480" y="219456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</a:t>
            </a:r>
            <a:endParaRPr lang="en-US" sz="2700" dirty="0"/>
          </a:p>
        </p:txBody>
      </p:sp>
      <p:pic>
        <p:nvPicPr>
          <p:cNvPr id="5" name="Image 0" descr="sih_ful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417320" cy="669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932688"/>
            <a:ext cx="11277295" cy="0"/>
          </a:xfrm>
          <a:prstGeom prst="line">
            <a:avLst/>
          </a:prstGeom>
          <a:noFill/>
          <a:ln w="12700">
            <a:solidFill>
              <a:srgbClr val="C9D8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115568"/>
            <a:ext cx="1737360" cy="868680"/>
          </a:xfrm>
          <a:prstGeom prst="roundRect">
            <a:avLst>
              <a:gd name="adj" fmla="val 9474"/>
            </a:avLst>
          </a:prstGeom>
          <a:solidFill>
            <a:srgbClr val="F2F6F9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089736" y="1188720"/>
            <a:ext cx="475488" cy="475488"/>
          </a:xfrm>
          <a:prstGeom prst="ellipse">
            <a:avLst/>
          </a:prstGeom>
          <a:solidFill>
            <a:srgbClr val="00B0F0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02253" y="1302837"/>
            <a:ext cx="247254" cy="24725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02920" y="16824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MPLADS DATA</a:t>
            </a:r>
            <a:endParaRPr lang="en-US" sz="950" dirty="0"/>
          </a:p>
        </p:txBody>
      </p:sp>
      <p:sp>
        <p:nvSpPr>
          <p:cNvPr id="11" name="Shape 7"/>
          <p:cNvSpPr/>
          <p:nvPr/>
        </p:nvSpPr>
        <p:spPr>
          <a:xfrm>
            <a:off x="2212848" y="1549908"/>
            <a:ext cx="611048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 rot="5400000">
            <a:off x="2805608" y="1485900"/>
            <a:ext cx="109728" cy="128016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13" name="Shape 9"/>
          <p:cNvSpPr/>
          <p:nvPr/>
        </p:nvSpPr>
        <p:spPr>
          <a:xfrm>
            <a:off x="2842184" y="1115568"/>
            <a:ext cx="1737360" cy="868680"/>
          </a:xfrm>
          <a:prstGeom prst="roundRect">
            <a:avLst>
              <a:gd name="adj" fmla="val 9474"/>
            </a:avLst>
          </a:prstGeom>
          <a:solidFill>
            <a:srgbClr val="F2F6F9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473120" y="1188720"/>
            <a:ext cx="475488" cy="47548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87237" y="1302837"/>
            <a:ext cx="247254" cy="24725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887904" y="16824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MONITORING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4597832" y="1549908"/>
            <a:ext cx="611048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 rot="5400000">
            <a:off x="5190592" y="1485900"/>
            <a:ext cx="109728" cy="128016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19" name="Shape 14"/>
          <p:cNvSpPr/>
          <p:nvPr/>
        </p:nvSpPr>
        <p:spPr>
          <a:xfrm>
            <a:off x="5227168" y="1115568"/>
            <a:ext cx="1737360" cy="868680"/>
          </a:xfrm>
          <a:prstGeom prst="roundRect">
            <a:avLst>
              <a:gd name="adj" fmla="val 9474"/>
            </a:avLst>
          </a:prstGeom>
          <a:solidFill>
            <a:srgbClr val="F2F6F9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858104" y="1188720"/>
            <a:ext cx="475488" cy="475488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72221" y="1302837"/>
            <a:ext cx="247254" cy="24725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272888" y="16824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</a:t>
            </a:r>
            <a:endParaRPr lang="en-US" sz="950" dirty="0"/>
          </a:p>
        </p:txBody>
      </p:sp>
      <p:sp>
        <p:nvSpPr>
          <p:cNvPr id="23" name="Shape 17"/>
          <p:cNvSpPr/>
          <p:nvPr/>
        </p:nvSpPr>
        <p:spPr>
          <a:xfrm>
            <a:off x="6982816" y="1549908"/>
            <a:ext cx="611048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 rot="5400000">
            <a:off x="7575575" y="1485900"/>
            <a:ext cx="109728" cy="128016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25" name="Shape 19"/>
          <p:cNvSpPr/>
          <p:nvPr/>
        </p:nvSpPr>
        <p:spPr>
          <a:xfrm>
            <a:off x="7612151" y="1115568"/>
            <a:ext cx="1737360" cy="868680"/>
          </a:xfrm>
          <a:prstGeom prst="roundRect">
            <a:avLst>
              <a:gd name="adj" fmla="val 9474"/>
            </a:avLst>
          </a:prstGeom>
          <a:solidFill>
            <a:srgbClr val="F2F6F9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8243087" y="1188720"/>
            <a:ext cx="475488" cy="475488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57205" y="1302837"/>
            <a:ext cx="247254" cy="247254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657871" y="16824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ALERTS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9367799" y="1549908"/>
            <a:ext cx="611048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 rot="5400000">
            <a:off x="9960559" y="1485900"/>
            <a:ext cx="109728" cy="128016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31" name="Shape 24"/>
          <p:cNvSpPr/>
          <p:nvPr/>
        </p:nvSpPr>
        <p:spPr>
          <a:xfrm>
            <a:off x="9997135" y="1115568"/>
            <a:ext cx="1737360" cy="868680"/>
          </a:xfrm>
          <a:prstGeom prst="roundRect">
            <a:avLst>
              <a:gd name="adj" fmla="val 9474"/>
            </a:avLst>
          </a:prstGeom>
          <a:solidFill>
            <a:srgbClr val="F2F6F9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10628071" y="1188720"/>
            <a:ext cx="475488" cy="475488"/>
          </a:xfrm>
          <a:prstGeom prst="ellipse">
            <a:avLst/>
          </a:prstGeom>
          <a:solidFill>
            <a:srgbClr val="0E6E5C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42188" y="1302837"/>
            <a:ext cx="247254" cy="247254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10042855" y="1682496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50" dirty="0"/>
          </a:p>
        </p:txBody>
      </p:sp>
      <p:sp>
        <p:nvSpPr>
          <p:cNvPr id="35" name="Shape 27"/>
          <p:cNvSpPr/>
          <p:nvPr/>
        </p:nvSpPr>
        <p:spPr>
          <a:xfrm>
            <a:off x="1185520" y="2185416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11416B"/>
          </a:solidFill>
          <a:ln/>
        </p:spPr>
      </p:sp>
      <p:sp>
        <p:nvSpPr>
          <p:cNvPr id="36" name="Text 28"/>
          <p:cNvSpPr/>
          <p:nvPr/>
        </p:nvSpPr>
        <p:spPr>
          <a:xfrm>
            <a:off x="1231240" y="218541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Analysis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3681832" y="2185416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11416B"/>
          </a:solidFill>
          <a:ln/>
        </p:spPr>
      </p:sp>
      <p:sp>
        <p:nvSpPr>
          <p:cNvPr id="38" name="Text 30"/>
          <p:cNvSpPr/>
          <p:nvPr/>
        </p:nvSpPr>
        <p:spPr>
          <a:xfrm>
            <a:off x="3727552" y="218541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Analysis</a:t>
            </a:r>
            <a:endParaRPr lang="en-US" sz="1050" dirty="0"/>
          </a:p>
        </p:txBody>
      </p:sp>
      <p:sp>
        <p:nvSpPr>
          <p:cNvPr id="39" name="Shape 31"/>
          <p:cNvSpPr/>
          <p:nvPr/>
        </p:nvSpPr>
        <p:spPr>
          <a:xfrm>
            <a:off x="6178144" y="2185416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11416B"/>
          </a:solidFill>
          <a:ln/>
        </p:spPr>
      </p:sp>
      <p:sp>
        <p:nvSpPr>
          <p:cNvPr id="40" name="Text 32"/>
          <p:cNvSpPr/>
          <p:nvPr/>
        </p:nvSpPr>
        <p:spPr>
          <a:xfrm>
            <a:off x="6223864" y="218541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Detection</a:t>
            </a:r>
            <a:endParaRPr lang="en-US" sz="1050" dirty="0"/>
          </a:p>
        </p:txBody>
      </p:sp>
      <p:sp>
        <p:nvSpPr>
          <p:cNvPr id="41" name="Shape 33"/>
          <p:cNvSpPr/>
          <p:nvPr/>
        </p:nvSpPr>
        <p:spPr>
          <a:xfrm>
            <a:off x="8674456" y="2185416"/>
            <a:ext cx="2331720" cy="365760"/>
          </a:xfrm>
          <a:prstGeom prst="roundRect">
            <a:avLst>
              <a:gd name="adj" fmla="val 15000"/>
            </a:avLst>
          </a:prstGeom>
          <a:solidFill>
            <a:srgbClr val="11416B"/>
          </a:solidFill>
          <a:ln/>
        </p:spPr>
      </p:sp>
      <p:sp>
        <p:nvSpPr>
          <p:cNvPr id="42" name="Text 34"/>
          <p:cNvSpPr/>
          <p:nvPr/>
        </p:nvSpPr>
        <p:spPr>
          <a:xfrm>
            <a:off x="8720176" y="2185416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050" dirty="0"/>
          </a:p>
        </p:txBody>
      </p:sp>
      <p:sp>
        <p:nvSpPr>
          <p:cNvPr id="43" name="Shape 35"/>
          <p:cNvSpPr/>
          <p:nvPr/>
        </p:nvSpPr>
        <p:spPr>
          <a:xfrm>
            <a:off x="457200" y="2779776"/>
            <a:ext cx="3637178" cy="3255264"/>
          </a:xfrm>
          <a:prstGeom prst="roundRect">
            <a:avLst>
              <a:gd name="adj" fmla="val 2528"/>
            </a:avLst>
          </a:prstGeom>
          <a:solidFill>
            <a:srgbClr val="FFFFFF"/>
          </a:solidFill>
          <a:ln w="12700">
            <a:solidFill>
              <a:srgbClr val="C9D8E3"/>
            </a:solidFill>
            <a:prstDash val="dash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658368" y="2962656"/>
            <a:ext cx="384048" cy="384048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45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50540" y="3054828"/>
            <a:ext cx="199705" cy="199705"/>
          </a:xfrm>
          <a:prstGeom prst="rect">
            <a:avLst/>
          </a:prstGeom>
        </p:spPr>
      </p:pic>
      <p:sp>
        <p:nvSpPr>
          <p:cNvPr id="46" name="Text 37"/>
          <p:cNvSpPr/>
          <p:nvPr/>
        </p:nvSpPr>
        <p:spPr>
          <a:xfrm>
            <a:off x="1143000" y="2962656"/>
            <a:ext cx="28142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300" dirty="0"/>
          </a:p>
        </p:txBody>
      </p:sp>
      <p:sp>
        <p:nvSpPr>
          <p:cNvPr id="47" name="Text 38"/>
          <p:cNvSpPr/>
          <p:nvPr/>
        </p:nvSpPr>
        <p:spPr>
          <a:xfrm>
            <a:off x="713232" y="3465576"/>
            <a:ext cx="3179978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8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Large-scale MPLADS data</a:t>
            </a:r>
            <a:endParaRPr lang="en-US" sz="108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8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monitoring is difficult at scale</a:t>
            </a:r>
            <a:endParaRPr lang="en-US" sz="108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8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Irregularities may remain hidden across multiple records</a:t>
            </a:r>
            <a:endParaRPr lang="en-US" sz="1080" dirty="0"/>
          </a:p>
        </p:txBody>
      </p:sp>
      <p:sp>
        <p:nvSpPr>
          <p:cNvPr id="48" name="Shape 39"/>
          <p:cNvSpPr/>
          <p:nvPr/>
        </p:nvSpPr>
        <p:spPr>
          <a:xfrm>
            <a:off x="4277258" y="2779776"/>
            <a:ext cx="3637178" cy="3255264"/>
          </a:xfrm>
          <a:prstGeom prst="roundRect">
            <a:avLst>
              <a:gd name="adj" fmla="val 2528"/>
            </a:avLst>
          </a:prstGeom>
          <a:solidFill>
            <a:srgbClr val="FFFFFF"/>
          </a:solidFill>
          <a:ln w="12700">
            <a:solidFill>
              <a:srgbClr val="C9D8E3"/>
            </a:solidFill>
            <a:prstDash val="dash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49" name="Shape 40"/>
          <p:cNvSpPr/>
          <p:nvPr/>
        </p:nvSpPr>
        <p:spPr>
          <a:xfrm>
            <a:off x="4478426" y="2962656"/>
            <a:ext cx="384048" cy="38404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5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0598" y="3054828"/>
            <a:ext cx="199705" cy="199705"/>
          </a:xfrm>
          <a:prstGeom prst="rect">
            <a:avLst/>
          </a:prstGeom>
        </p:spPr>
      </p:pic>
      <p:sp>
        <p:nvSpPr>
          <p:cNvPr id="51" name="Text 41"/>
          <p:cNvSpPr/>
          <p:nvPr/>
        </p:nvSpPr>
        <p:spPr>
          <a:xfrm>
            <a:off x="4963058" y="2962656"/>
            <a:ext cx="28142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300" dirty="0"/>
          </a:p>
        </p:txBody>
      </p:sp>
      <p:sp>
        <p:nvSpPr>
          <p:cNvPr id="52" name="Text 42"/>
          <p:cNvSpPr/>
          <p:nvPr/>
        </p:nvSpPr>
        <p:spPr>
          <a:xfrm>
            <a:off x="4533290" y="3465576"/>
            <a:ext cx="3179978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8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risk monitoring</a:t>
            </a:r>
            <a:endParaRPr lang="en-US" sz="108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8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anomaly &amp; inefficiency detection</a:t>
            </a:r>
            <a:endParaRPr lang="en-US" sz="108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8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prioritization</a:t>
            </a:r>
            <a:endParaRPr lang="en-US" sz="108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8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alerts</a:t>
            </a:r>
            <a:endParaRPr lang="en-US" sz="1080" dirty="0"/>
          </a:p>
        </p:txBody>
      </p:sp>
      <p:sp>
        <p:nvSpPr>
          <p:cNvPr id="53" name="Shape 43"/>
          <p:cNvSpPr/>
          <p:nvPr/>
        </p:nvSpPr>
        <p:spPr>
          <a:xfrm>
            <a:off x="8097317" y="2779776"/>
            <a:ext cx="3637178" cy="3255264"/>
          </a:xfrm>
          <a:prstGeom prst="roundRect">
            <a:avLst>
              <a:gd name="adj" fmla="val 2528"/>
            </a:avLst>
          </a:prstGeom>
          <a:solidFill>
            <a:srgbClr val="FFFFFF"/>
          </a:solidFill>
          <a:ln w="12700">
            <a:solidFill>
              <a:srgbClr val="C9D8E3"/>
            </a:solidFill>
            <a:prstDash val="dash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54" name="Shape 44"/>
          <p:cNvSpPr/>
          <p:nvPr/>
        </p:nvSpPr>
        <p:spPr>
          <a:xfrm>
            <a:off x="8298485" y="2962656"/>
            <a:ext cx="384048" cy="384048"/>
          </a:xfrm>
          <a:prstGeom prst="ellipse">
            <a:avLst/>
          </a:prstGeom>
          <a:solidFill>
            <a:srgbClr val="0E6E5C"/>
          </a:solidFill>
          <a:ln/>
        </p:spPr>
      </p:sp>
      <p:pic>
        <p:nvPicPr>
          <p:cNvPr id="55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390656" y="3054828"/>
            <a:ext cx="199705" cy="199705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8783117" y="2962656"/>
            <a:ext cx="281421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IS DIFFERENT</a:t>
            </a:r>
            <a:endParaRPr lang="en-US" sz="1300" dirty="0"/>
          </a:p>
        </p:txBody>
      </p:sp>
      <p:sp>
        <p:nvSpPr>
          <p:cNvPr id="57" name="Text 46"/>
          <p:cNvSpPr/>
          <p:nvPr/>
        </p:nvSpPr>
        <p:spPr>
          <a:xfrm>
            <a:off x="8353349" y="3465576"/>
            <a:ext cx="3179978" cy="2432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8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 + domain rules</a:t>
            </a:r>
            <a:endParaRPr lang="en-US" sz="108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8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Multi-signal risk scoring</a:t>
            </a:r>
            <a:endParaRPr lang="en-US" sz="108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8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Explainable, not black-box</a:t>
            </a:r>
            <a:endParaRPr lang="en-US" sz="108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8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human verification, not false fraud claims</a:t>
            </a:r>
            <a:endParaRPr lang="en-US" sz="1080" dirty="0"/>
          </a:p>
        </p:txBody>
      </p:sp>
      <p:sp>
        <p:nvSpPr>
          <p:cNvPr id="58" name="Shape 47"/>
          <p:cNvSpPr/>
          <p:nvPr/>
        </p:nvSpPr>
        <p:spPr>
          <a:xfrm>
            <a:off x="457200" y="6144768"/>
            <a:ext cx="11277295" cy="384048"/>
          </a:xfrm>
          <a:prstGeom prst="roundRect">
            <a:avLst>
              <a:gd name="adj" fmla="val 21429"/>
            </a:avLst>
          </a:prstGeom>
          <a:solidFill>
            <a:srgbClr val="11416B"/>
          </a:solidFill>
          <a:ln w="12700">
            <a:solidFill>
              <a:srgbClr val="11416B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640080" y="6144768"/>
            <a:ext cx="1091153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scattered records to a single risk-based view — helping authorities act early, not just audit later.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0B3B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CREW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554480" y="219456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APPROACH</a:t>
            </a:r>
            <a:endParaRPr lang="en-US" sz="2700" dirty="0"/>
          </a:p>
        </p:txBody>
      </p:sp>
      <p:pic>
        <p:nvPicPr>
          <p:cNvPr id="5" name="Image 0" descr="sih_ful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417320" cy="669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932688"/>
            <a:ext cx="11277295" cy="0"/>
          </a:xfrm>
          <a:prstGeom prst="line">
            <a:avLst/>
          </a:prstGeom>
          <a:noFill/>
          <a:ln w="12700">
            <a:solidFill>
              <a:srgbClr val="C9D8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078992"/>
            <a:ext cx="2834640" cy="566928"/>
          </a:xfrm>
          <a:prstGeom prst="roundRect">
            <a:avLst>
              <a:gd name="adj" fmla="val 14516"/>
            </a:avLst>
          </a:prstGeom>
          <a:solidFill>
            <a:srgbClr val="F2F6F9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66928" y="1188720"/>
            <a:ext cx="347472" cy="347472"/>
          </a:xfrm>
          <a:prstGeom prst="ellipse">
            <a:avLst/>
          </a:prstGeom>
          <a:solidFill>
            <a:srgbClr val="0B3B5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321" y="1272113"/>
            <a:ext cx="180685" cy="18068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87552" y="113385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MPLADS DATASET / PORTAL DATA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1874520" y="1664208"/>
            <a:ext cx="0" cy="14630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 rot="10800000">
            <a:off x="1810512" y="1792224"/>
            <a:ext cx="128016" cy="109728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13" name="Shape 9"/>
          <p:cNvSpPr/>
          <p:nvPr/>
        </p:nvSpPr>
        <p:spPr>
          <a:xfrm>
            <a:off x="457200" y="1810512"/>
            <a:ext cx="2834640" cy="566928"/>
          </a:xfrm>
          <a:prstGeom prst="roundRect">
            <a:avLst>
              <a:gd name="adj" fmla="val 14516"/>
            </a:avLst>
          </a:prstGeom>
          <a:solidFill>
            <a:srgbClr val="F2F6F9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66928" y="1920240"/>
            <a:ext cx="347472" cy="347472"/>
          </a:xfrm>
          <a:prstGeom prst="ellipse">
            <a:avLst/>
          </a:prstGeom>
          <a:solidFill>
            <a:srgbClr val="0B3B5C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321" y="2003633"/>
            <a:ext cx="180685" cy="18068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87552" y="1865376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1874520" y="2395728"/>
            <a:ext cx="0" cy="14630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 rot="10800000">
            <a:off x="1810512" y="2523744"/>
            <a:ext cx="128016" cy="109728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19" name="Shape 14"/>
          <p:cNvSpPr/>
          <p:nvPr/>
        </p:nvSpPr>
        <p:spPr>
          <a:xfrm>
            <a:off x="457200" y="2542032"/>
            <a:ext cx="2834640" cy="786384"/>
          </a:xfrm>
          <a:prstGeom prst="roundRect">
            <a:avLst>
              <a:gd name="adj" fmla="val 10465"/>
            </a:avLst>
          </a:prstGeom>
          <a:solidFill>
            <a:srgbClr val="F2F6F9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66928" y="2761488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321" y="2844881"/>
            <a:ext cx="180685" cy="18068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87552" y="25968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00" dirty="0"/>
          </a:p>
        </p:txBody>
      </p:sp>
      <p:sp>
        <p:nvSpPr>
          <p:cNvPr id="23" name="Text 17"/>
          <p:cNvSpPr/>
          <p:nvPr/>
        </p:nvSpPr>
        <p:spPr>
          <a:xfrm>
            <a:off x="987552" y="2871216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• Duplicates • Type validation • Standardization</a:t>
            </a:r>
            <a:endParaRPr lang="en-US" sz="830" dirty="0"/>
          </a:p>
        </p:txBody>
      </p:sp>
      <p:sp>
        <p:nvSpPr>
          <p:cNvPr id="24" name="Shape 18"/>
          <p:cNvSpPr/>
          <p:nvPr/>
        </p:nvSpPr>
        <p:spPr>
          <a:xfrm>
            <a:off x="1874520" y="3346704"/>
            <a:ext cx="0" cy="146304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 rot="10800000">
            <a:off x="1810512" y="3474720"/>
            <a:ext cx="128016" cy="109728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26" name="Shape 20"/>
          <p:cNvSpPr/>
          <p:nvPr/>
        </p:nvSpPr>
        <p:spPr>
          <a:xfrm>
            <a:off x="457200" y="3493008"/>
            <a:ext cx="2834640" cy="786384"/>
          </a:xfrm>
          <a:prstGeom prst="roundRect">
            <a:avLst>
              <a:gd name="adj" fmla="val 10465"/>
            </a:avLst>
          </a:prstGeom>
          <a:solidFill>
            <a:srgbClr val="F2F6F9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566928" y="3712464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321" y="3795857"/>
            <a:ext cx="180685" cy="180685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987552" y="3547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987552" y="3822192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deviation • Expenditure ratio • Delay duration • Progress gap • Utilization • Similarity</a:t>
            </a:r>
            <a:endParaRPr lang="en-US" sz="830" dirty="0"/>
          </a:p>
        </p:txBody>
      </p:sp>
      <p:sp>
        <p:nvSpPr>
          <p:cNvPr id="31" name="Shape 24"/>
          <p:cNvSpPr/>
          <p:nvPr/>
        </p:nvSpPr>
        <p:spPr>
          <a:xfrm>
            <a:off x="3337560" y="3886200"/>
            <a:ext cx="32004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 rot="5400000">
            <a:off x="3639312" y="3822192"/>
            <a:ext cx="109728" cy="128016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33" name="Text 26"/>
          <p:cNvSpPr/>
          <p:nvPr/>
        </p:nvSpPr>
        <p:spPr>
          <a:xfrm>
            <a:off x="3703320" y="932688"/>
            <a:ext cx="4160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ENGINE  (parallel signals)</a:t>
            </a:r>
            <a:endParaRPr lang="en-US" sz="1200" dirty="0"/>
          </a:p>
        </p:txBody>
      </p:sp>
      <p:sp>
        <p:nvSpPr>
          <p:cNvPr id="34" name="Shape 27"/>
          <p:cNvSpPr/>
          <p:nvPr/>
        </p:nvSpPr>
        <p:spPr>
          <a:xfrm>
            <a:off x="3703320" y="1243584"/>
            <a:ext cx="416052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35" name="Shape 28"/>
          <p:cNvSpPr/>
          <p:nvPr/>
        </p:nvSpPr>
        <p:spPr>
          <a:xfrm>
            <a:off x="3813048" y="1371600"/>
            <a:ext cx="347472" cy="347472"/>
          </a:xfrm>
          <a:prstGeom prst="ellipse">
            <a:avLst/>
          </a:prstGeom>
          <a:solidFill>
            <a:srgbClr val="0B3B5C"/>
          </a:solidFill>
          <a:ln/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96441" y="1454993"/>
            <a:ext cx="180685" cy="180685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4270248" y="129844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1100" dirty="0"/>
          </a:p>
        </p:txBody>
      </p:sp>
      <p:sp>
        <p:nvSpPr>
          <p:cNvPr id="38" name="Text 30"/>
          <p:cNvSpPr/>
          <p:nvPr/>
        </p:nvSpPr>
        <p:spPr>
          <a:xfrm>
            <a:off x="4270248" y="15544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&amp; compliance checks</a:t>
            </a:r>
            <a:endParaRPr lang="en-US" sz="900" dirty="0"/>
          </a:p>
        </p:txBody>
      </p:sp>
      <p:sp>
        <p:nvSpPr>
          <p:cNvPr id="39" name="Shape 31"/>
          <p:cNvSpPr/>
          <p:nvPr/>
        </p:nvSpPr>
        <p:spPr>
          <a:xfrm>
            <a:off x="3703320" y="1938528"/>
            <a:ext cx="416052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40" name="Shape 32"/>
          <p:cNvSpPr/>
          <p:nvPr/>
        </p:nvSpPr>
        <p:spPr>
          <a:xfrm>
            <a:off x="3813048" y="2066544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96441" y="2149937"/>
            <a:ext cx="180685" cy="180685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4270248" y="19933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1100" dirty="0"/>
          </a:p>
        </p:txBody>
      </p:sp>
      <p:sp>
        <p:nvSpPr>
          <p:cNvPr id="43" name="Text 34"/>
          <p:cNvSpPr/>
          <p:nvPr/>
        </p:nvSpPr>
        <p:spPr>
          <a:xfrm>
            <a:off x="4270248" y="22494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Unsupervised anomaly detection</a:t>
            </a:r>
            <a:endParaRPr lang="en-US" sz="900" dirty="0"/>
          </a:p>
        </p:txBody>
      </p:sp>
      <p:sp>
        <p:nvSpPr>
          <p:cNvPr id="44" name="Shape 35"/>
          <p:cNvSpPr/>
          <p:nvPr/>
        </p:nvSpPr>
        <p:spPr>
          <a:xfrm>
            <a:off x="3703320" y="2633472"/>
            <a:ext cx="416052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45" name="Shape 36"/>
          <p:cNvSpPr/>
          <p:nvPr/>
        </p:nvSpPr>
        <p:spPr>
          <a:xfrm>
            <a:off x="3813048" y="2761488"/>
            <a:ext cx="347472" cy="347472"/>
          </a:xfrm>
          <a:prstGeom prst="ellipse">
            <a:avLst/>
          </a:prstGeom>
          <a:solidFill>
            <a:srgbClr val="146356"/>
          </a:solidFill>
          <a:ln/>
        </p:spPr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96441" y="2844881"/>
            <a:ext cx="180685" cy="180685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4270248" y="268833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LOF / CLUSTERING</a:t>
            </a:r>
            <a:endParaRPr lang="en-US" sz="1100" dirty="0"/>
          </a:p>
        </p:txBody>
      </p:sp>
      <p:sp>
        <p:nvSpPr>
          <p:cNvPr id="48" name="Text 38"/>
          <p:cNvSpPr/>
          <p:nvPr/>
        </p:nvSpPr>
        <p:spPr>
          <a:xfrm>
            <a:off x="4270248" y="294436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&amp; contextual anomalies</a:t>
            </a:r>
            <a:endParaRPr lang="en-US" sz="900" dirty="0"/>
          </a:p>
        </p:txBody>
      </p:sp>
      <p:sp>
        <p:nvSpPr>
          <p:cNvPr id="49" name="Shape 39"/>
          <p:cNvSpPr/>
          <p:nvPr/>
        </p:nvSpPr>
        <p:spPr>
          <a:xfrm>
            <a:off x="3703320" y="3328416"/>
            <a:ext cx="416052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50" name="Shape 40"/>
          <p:cNvSpPr/>
          <p:nvPr/>
        </p:nvSpPr>
        <p:spPr>
          <a:xfrm>
            <a:off x="3813048" y="3456432"/>
            <a:ext cx="347472" cy="347472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51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896441" y="3539825"/>
            <a:ext cx="180685" cy="180685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4270248" y="33832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SIMILARITY</a:t>
            </a:r>
            <a:endParaRPr lang="en-US" sz="1100" dirty="0"/>
          </a:p>
        </p:txBody>
      </p:sp>
      <p:sp>
        <p:nvSpPr>
          <p:cNvPr id="53" name="Text 42"/>
          <p:cNvSpPr/>
          <p:nvPr/>
        </p:nvSpPr>
        <p:spPr>
          <a:xfrm>
            <a:off x="4270248" y="36393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/ similar work detection</a:t>
            </a:r>
            <a:endParaRPr lang="en-US" sz="900" dirty="0"/>
          </a:p>
        </p:txBody>
      </p:sp>
      <p:sp>
        <p:nvSpPr>
          <p:cNvPr id="54" name="Shape 43"/>
          <p:cNvSpPr/>
          <p:nvPr/>
        </p:nvSpPr>
        <p:spPr>
          <a:xfrm>
            <a:off x="3703320" y="4023360"/>
            <a:ext cx="4160520" cy="603504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55" name="Shape 44"/>
          <p:cNvSpPr/>
          <p:nvPr/>
        </p:nvSpPr>
        <p:spPr>
          <a:xfrm>
            <a:off x="3813048" y="4151376"/>
            <a:ext cx="347472" cy="347472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56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896441" y="4234769"/>
            <a:ext cx="180685" cy="180685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4270248" y="407822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ANALYTICS</a:t>
            </a:r>
            <a:endParaRPr lang="en-US" sz="1100" dirty="0"/>
          </a:p>
        </p:txBody>
      </p:sp>
      <p:sp>
        <p:nvSpPr>
          <p:cNvPr id="58" name="Text 46"/>
          <p:cNvSpPr/>
          <p:nvPr/>
        </p:nvSpPr>
        <p:spPr>
          <a:xfrm>
            <a:off x="4270248" y="4334256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&amp; execution trends</a:t>
            </a:r>
            <a:endParaRPr lang="en-US" sz="900" dirty="0"/>
          </a:p>
        </p:txBody>
      </p:sp>
      <p:sp>
        <p:nvSpPr>
          <p:cNvPr id="59" name="Shape 47"/>
          <p:cNvSpPr/>
          <p:nvPr/>
        </p:nvSpPr>
        <p:spPr>
          <a:xfrm>
            <a:off x="7909560" y="2889504"/>
            <a:ext cx="27432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0" name="Shape 48"/>
          <p:cNvSpPr/>
          <p:nvPr/>
        </p:nvSpPr>
        <p:spPr>
          <a:xfrm rot="5400000">
            <a:off x="8165592" y="2825496"/>
            <a:ext cx="109728" cy="128016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61" name="Shape 49"/>
          <p:cNvSpPr/>
          <p:nvPr/>
        </p:nvSpPr>
        <p:spPr>
          <a:xfrm>
            <a:off x="8229600" y="1078992"/>
            <a:ext cx="2331720" cy="566928"/>
          </a:xfrm>
          <a:prstGeom prst="roundRect">
            <a:avLst>
              <a:gd name="adj" fmla="val 14516"/>
            </a:avLst>
          </a:prstGeom>
          <a:solidFill>
            <a:srgbClr val="F2F6F9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62" name="Shape 50"/>
          <p:cNvSpPr/>
          <p:nvPr/>
        </p:nvSpPr>
        <p:spPr>
          <a:xfrm>
            <a:off x="9212580" y="1133856"/>
            <a:ext cx="365760" cy="365760"/>
          </a:xfrm>
          <a:prstGeom prst="ellipse">
            <a:avLst/>
          </a:prstGeom>
          <a:solidFill>
            <a:srgbClr val="0B3B5C"/>
          </a:solidFill>
          <a:ln/>
        </p:spPr>
      </p:sp>
      <p:pic>
        <p:nvPicPr>
          <p:cNvPr id="63" name="Image 10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00362" y="1221638"/>
            <a:ext cx="190195" cy="190195"/>
          </a:xfrm>
          <a:prstGeom prst="rect">
            <a:avLst/>
          </a:prstGeom>
        </p:spPr>
      </p:pic>
      <p:sp>
        <p:nvSpPr>
          <p:cNvPr id="64" name="Text 51"/>
          <p:cNvSpPr/>
          <p:nvPr/>
        </p:nvSpPr>
        <p:spPr>
          <a:xfrm>
            <a:off x="8284464" y="1133856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FUSION ENGINE</a:t>
            </a:r>
            <a:endParaRPr lang="en-US" sz="870" dirty="0"/>
          </a:p>
        </p:txBody>
      </p:sp>
      <p:sp>
        <p:nvSpPr>
          <p:cNvPr id="65" name="Shape 52"/>
          <p:cNvSpPr/>
          <p:nvPr/>
        </p:nvSpPr>
        <p:spPr>
          <a:xfrm>
            <a:off x="9395460" y="1664208"/>
            <a:ext cx="0" cy="128016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66" name="Shape 53"/>
          <p:cNvSpPr/>
          <p:nvPr/>
        </p:nvSpPr>
        <p:spPr>
          <a:xfrm rot="10800000">
            <a:off x="9331452" y="1773936"/>
            <a:ext cx="128016" cy="109728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67" name="Shape 54"/>
          <p:cNvSpPr/>
          <p:nvPr/>
        </p:nvSpPr>
        <p:spPr>
          <a:xfrm>
            <a:off x="8229600" y="1792224"/>
            <a:ext cx="2331720" cy="566928"/>
          </a:xfrm>
          <a:prstGeom prst="roundRect">
            <a:avLst>
              <a:gd name="adj" fmla="val 14516"/>
            </a:avLst>
          </a:prstGeom>
          <a:solidFill>
            <a:srgbClr val="F2F6F9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68" name="Shape 55"/>
          <p:cNvSpPr/>
          <p:nvPr/>
        </p:nvSpPr>
        <p:spPr>
          <a:xfrm>
            <a:off x="9212580" y="1847088"/>
            <a:ext cx="365760" cy="365760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69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00362" y="1934870"/>
            <a:ext cx="190195" cy="190195"/>
          </a:xfrm>
          <a:prstGeom prst="rect">
            <a:avLst/>
          </a:prstGeom>
        </p:spPr>
      </p:pic>
      <p:sp>
        <p:nvSpPr>
          <p:cNvPr id="70" name="Text 56"/>
          <p:cNvSpPr/>
          <p:nvPr/>
        </p:nvSpPr>
        <p:spPr>
          <a:xfrm>
            <a:off x="8284464" y="1847088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0–100 RISK SCORE</a:t>
            </a:r>
            <a:endParaRPr lang="en-US" sz="870" dirty="0"/>
          </a:p>
        </p:txBody>
      </p:sp>
      <p:sp>
        <p:nvSpPr>
          <p:cNvPr id="71" name="Shape 57"/>
          <p:cNvSpPr/>
          <p:nvPr/>
        </p:nvSpPr>
        <p:spPr>
          <a:xfrm>
            <a:off x="9395460" y="2377440"/>
            <a:ext cx="0" cy="128016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72" name="Shape 58"/>
          <p:cNvSpPr/>
          <p:nvPr/>
        </p:nvSpPr>
        <p:spPr>
          <a:xfrm rot="10800000">
            <a:off x="9331452" y="2487168"/>
            <a:ext cx="128016" cy="109728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73" name="Shape 59"/>
          <p:cNvSpPr/>
          <p:nvPr/>
        </p:nvSpPr>
        <p:spPr>
          <a:xfrm>
            <a:off x="8229600" y="2505456"/>
            <a:ext cx="2331720" cy="566928"/>
          </a:xfrm>
          <a:prstGeom prst="roundRect">
            <a:avLst>
              <a:gd name="adj" fmla="val 14516"/>
            </a:avLst>
          </a:prstGeom>
          <a:solidFill>
            <a:srgbClr val="F2F6F9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74" name="Shape 60"/>
          <p:cNvSpPr/>
          <p:nvPr/>
        </p:nvSpPr>
        <p:spPr>
          <a:xfrm>
            <a:off x="9212580" y="2560320"/>
            <a:ext cx="365760" cy="365760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75" name="Image 12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300362" y="2648102"/>
            <a:ext cx="190195" cy="190195"/>
          </a:xfrm>
          <a:prstGeom prst="rect">
            <a:avLst/>
          </a:prstGeom>
        </p:spPr>
      </p:pic>
      <p:sp>
        <p:nvSpPr>
          <p:cNvPr id="76" name="Text 61"/>
          <p:cNvSpPr/>
          <p:nvPr/>
        </p:nvSpPr>
        <p:spPr>
          <a:xfrm>
            <a:off x="8284464" y="2560320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ALERT GENERATION</a:t>
            </a:r>
            <a:endParaRPr lang="en-US" sz="870" dirty="0"/>
          </a:p>
        </p:txBody>
      </p:sp>
      <p:sp>
        <p:nvSpPr>
          <p:cNvPr id="77" name="Shape 62"/>
          <p:cNvSpPr/>
          <p:nvPr/>
        </p:nvSpPr>
        <p:spPr>
          <a:xfrm>
            <a:off x="9395460" y="3090672"/>
            <a:ext cx="0" cy="128016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78" name="Shape 63"/>
          <p:cNvSpPr/>
          <p:nvPr/>
        </p:nvSpPr>
        <p:spPr>
          <a:xfrm rot="10800000">
            <a:off x="9331452" y="3200400"/>
            <a:ext cx="128016" cy="109728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79" name="Shape 64"/>
          <p:cNvSpPr/>
          <p:nvPr/>
        </p:nvSpPr>
        <p:spPr>
          <a:xfrm>
            <a:off x="8229600" y="3218688"/>
            <a:ext cx="2331720" cy="566928"/>
          </a:xfrm>
          <a:prstGeom prst="roundRect">
            <a:avLst>
              <a:gd name="adj" fmla="val 14516"/>
            </a:avLst>
          </a:prstGeom>
          <a:solidFill>
            <a:srgbClr val="F2F6F9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80" name="Shape 65"/>
          <p:cNvSpPr/>
          <p:nvPr/>
        </p:nvSpPr>
        <p:spPr>
          <a:xfrm>
            <a:off x="9212580" y="327355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1" name="Image 13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300362" y="3361334"/>
            <a:ext cx="190195" cy="190195"/>
          </a:xfrm>
          <a:prstGeom prst="rect">
            <a:avLst/>
          </a:prstGeom>
        </p:spPr>
      </p:pic>
      <p:sp>
        <p:nvSpPr>
          <p:cNvPr id="82" name="Text 66"/>
          <p:cNvSpPr/>
          <p:nvPr/>
        </p:nvSpPr>
        <p:spPr>
          <a:xfrm>
            <a:off x="8284464" y="3273552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/ REPORT / NOTIFICATION</a:t>
            </a:r>
            <a:endParaRPr lang="en-US" sz="870" dirty="0"/>
          </a:p>
        </p:txBody>
      </p:sp>
      <p:sp>
        <p:nvSpPr>
          <p:cNvPr id="83" name="Shape 67"/>
          <p:cNvSpPr/>
          <p:nvPr/>
        </p:nvSpPr>
        <p:spPr>
          <a:xfrm>
            <a:off x="9395460" y="3803904"/>
            <a:ext cx="0" cy="128016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4" name="Shape 68"/>
          <p:cNvSpPr/>
          <p:nvPr/>
        </p:nvSpPr>
        <p:spPr>
          <a:xfrm rot="10800000">
            <a:off x="9331452" y="3913632"/>
            <a:ext cx="128016" cy="109728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85" name="Shape 69"/>
          <p:cNvSpPr/>
          <p:nvPr/>
        </p:nvSpPr>
        <p:spPr>
          <a:xfrm>
            <a:off x="8229600" y="3931920"/>
            <a:ext cx="2331720" cy="566928"/>
          </a:xfrm>
          <a:prstGeom prst="roundRect">
            <a:avLst>
              <a:gd name="adj" fmla="val 14516"/>
            </a:avLst>
          </a:prstGeom>
          <a:solidFill>
            <a:srgbClr val="F2F6F9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86" name="Shape 70"/>
          <p:cNvSpPr/>
          <p:nvPr/>
        </p:nvSpPr>
        <p:spPr>
          <a:xfrm>
            <a:off x="9212580" y="3986784"/>
            <a:ext cx="365760" cy="365760"/>
          </a:xfrm>
          <a:prstGeom prst="ellipse">
            <a:avLst/>
          </a:prstGeom>
          <a:solidFill>
            <a:srgbClr val="0E6E5C"/>
          </a:solidFill>
          <a:ln/>
        </p:spPr>
      </p:sp>
      <p:pic>
        <p:nvPicPr>
          <p:cNvPr id="87" name="Image 14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300362" y="4074566"/>
            <a:ext cx="190195" cy="190195"/>
          </a:xfrm>
          <a:prstGeom prst="rect">
            <a:avLst/>
          </a:prstGeom>
        </p:spPr>
      </p:pic>
      <p:sp>
        <p:nvSpPr>
          <p:cNvPr id="88" name="Text 71"/>
          <p:cNvSpPr/>
          <p:nvPr/>
        </p:nvSpPr>
        <p:spPr>
          <a:xfrm>
            <a:off x="8284464" y="3986784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VERIFICATION &amp; ACTION</a:t>
            </a:r>
            <a:endParaRPr lang="en-US" sz="870" dirty="0"/>
          </a:p>
        </p:txBody>
      </p:sp>
      <p:sp>
        <p:nvSpPr>
          <p:cNvPr id="89" name="Shape 72"/>
          <p:cNvSpPr/>
          <p:nvPr/>
        </p:nvSpPr>
        <p:spPr>
          <a:xfrm>
            <a:off x="457200" y="5138928"/>
            <a:ext cx="365760" cy="365760"/>
          </a:xfrm>
          <a:prstGeom prst="ellipse">
            <a:avLst/>
          </a:prstGeom>
          <a:solidFill>
            <a:srgbClr val="0B3B5C"/>
          </a:solidFill>
          <a:ln/>
        </p:spPr>
      </p:sp>
      <p:pic>
        <p:nvPicPr>
          <p:cNvPr id="90" name="Image 15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44982" y="5226710"/>
            <a:ext cx="190195" cy="190195"/>
          </a:xfrm>
          <a:prstGeom prst="rect">
            <a:avLst/>
          </a:prstGeom>
        </p:spPr>
      </p:pic>
      <p:sp>
        <p:nvSpPr>
          <p:cNvPr id="91" name="Text 73"/>
          <p:cNvSpPr/>
          <p:nvPr/>
        </p:nvSpPr>
        <p:spPr>
          <a:xfrm>
            <a:off x="932688" y="5138928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pipeline</a:t>
            </a:r>
            <a:endParaRPr lang="en-US" sz="1100" dirty="0"/>
          </a:p>
        </p:txBody>
      </p:sp>
      <p:sp>
        <p:nvSpPr>
          <p:cNvPr id="92" name="Shape 74"/>
          <p:cNvSpPr/>
          <p:nvPr/>
        </p:nvSpPr>
        <p:spPr>
          <a:xfrm>
            <a:off x="4449928" y="5138928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3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4537710" y="5226710"/>
            <a:ext cx="190195" cy="190195"/>
          </a:xfrm>
          <a:prstGeom prst="rect">
            <a:avLst/>
          </a:prstGeom>
        </p:spPr>
      </p:pic>
      <p:sp>
        <p:nvSpPr>
          <p:cNvPr id="94" name="Text 75"/>
          <p:cNvSpPr/>
          <p:nvPr/>
        </p:nvSpPr>
        <p:spPr>
          <a:xfrm>
            <a:off x="4925416" y="5138928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at every layer</a:t>
            </a:r>
            <a:endParaRPr lang="en-US" sz="1100" dirty="0"/>
          </a:p>
        </p:txBody>
      </p:sp>
      <p:sp>
        <p:nvSpPr>
          <p:cNvPr id="95" name="Shape 76"/>
          <p:cNvSpPr/>
          <p:nvPr/>
        </p:nvSpPr>
        <p:spPr>
          <a:xfrm>
            <a:off x="8442655" y="5138928"/>
            <a:ext cx="365760" cy="365760"/>
          </a:xfrm>
          <a:prstGeom prst="ellipse">
            <a:avLst/>
          </a:prstGeom>
          <a:solidFill>
            <a:srgbClr val="0E6E5C"/>
          </a:solidFill>
          <a:ln/>
        </p:spPr>
      </p:sp>
      <p:pic>
        <p:nvPicPr>
          <p:cNvPr id="96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530438" y="5226710"/>
            <a:ext cx="190195" cy="190195"/>
          </a:xfrm>
          <a:prstGeom prst="rect">
            <a:avLst/>
          </a:prstGeom>
        </p:spPr>
      </p:pic>
      <p:sp>
        <p:nvSpPr>
          <p:cNvPr id="97" name="Text 77"/>
          <p:cNvSpPr/>
          <p:nvPr/>
        </p:nvSpPr>
        <p:spPr>
          <a:xfrm>
            <a:off x="8918143" y="5138928"/>
            <a:ext cx="28163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across states &amp; districts</a:t>
            </a:r>
            <a:endParaRPr lang="en-US" sz="1100" dirty="0"/>
          </a:p>
        </p:txBody>
      </p:sp>
      <p:sp>
        <p:nvSpPr>
          <p:cNvPr id="98" name="Shape 78"/>
          <p:cNvSpPr/>
          <p:nvPr/>
        </p:nvSpPr>
        <p:spPr>
          <a:xfrm>
            <a:off x="457200" y="5779008"/>
            <a:ext cx="11277295" cy="713232"/>
          </a:xfrm>
          <a:prstGeom prst="roundRect">
            <a:avLst>
              <a:gd name="adj" fmla="val 11538"/>
            </a:avLst>
          </a:prstGeom>
          <a:solidFill>
            <a:srgbClr val="11416B"/>
          </a:solidFill>
          <a:ln w="12700">
            <a:solidFill>
              <a:srgbClr val="11416B"/>
            </a:solidFill>
            <a:prstDash val="solid"/>
          </a:ln>
        </p:spPr>
      </p:sp>
      <p:sp>
        <p:nvSpPr>
          <p:cNvPr id="99" name="Text 79"/>
          <p:cNvSpPr/>
          <p:nvPr/>
        </p:nvSpPr>
        <p:spPr>
          <a:xfrm>
            <a:off x="640080" y="5833872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050" dirty="0"/>
          </a:p>
        </p:txBody>
      </p:sp>
      <p:sp>
        <p:nvSpPr>
          <p:cNvPr id="100" name="Text 80"/>
          <p:cNvSpPr/>
          <p:nvPr/>
        </p:nvSpPr>
        <p:spPr>
          <a:xfrm>
            <a:off x="2468880" y="5833872"/>
            <a:ext cx="10919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870" dirty="0"/>
          </a:p>
        </p:txBody>
      </p:sp>
      <p:sp>
        <p:nvSpPr>
          <p:cNvPr id="101" name="Text 81"/>
          <p:cNvSpPr/>
          <p:nvPr/>
        </p:nvSpPr>
        <p:spPr>
          <a:xfrm>
            <a:off x="3615652" y="5833872"/>
            <a:ext cx="10919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</a:t>
            </a:r>
            <a:endParaRPr lang="en-US" sz="870" dirty="0"/>
          </a:p>
        </p:txBody>
      </p:sp>
      <p:sp>
        <p:nvSpPr>
          <p:cNvPr id="102" name="Text 82"/>
          <p:cNvSpPr/>
          <p:nvPr/>
        </p:nvSpPr>
        <p:spPr>
          <a:xfrm>
            <a:off x="4762424" y="5833872"/>
            <a:ext cx="10919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870" dirty="0"/>
          </a:p>
        </p:txBody>
      </p:sp>
      <p:sp>
        <p:nvSpPr>
          <p:cNvPr id="103" name="Text 83"/>
          <p:cNvSpPr/>
          <p:nvPr/>
        </p:nvSpPr>
        <p:spPr>
          <a:xfrm>
            <a:off x="5909196" y="5833872"/>
            <a:ext cx="10919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Embeddings</a:t>
            </a:r>
            <a:endParaRPr lang="en-US" sz="870" dirty="0"/>
          </a:p>
        </p:txBody>
      </p:sp>
      <p:sp>
        <p:nvSpPr>
          <p:cNvPr id="104" name="Text 84"/>
          <p:cNvSpPr/>
          <p:nvPr/>
        </p:nvSpPr>
        <p:spPr>
          <a:xfrm>
            <a:off x="7055968" y="5833872"/>
            <a:ext cx="10919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Database</a:t>
            </a:r>
            <a:endParaRPr lang="en-US" sz="870" dirty="0"/>
          </a:p>
        </p:txBody>
      </p:sp>
      <p:sp>
        <p:nvSpPr>
          <p:cNvPr id="105" name="Text 85"/>
          <p:cNvSpPr/>
          <p:nvPr/>
        </p:nvSpPr>
        <p:spPr>
          <a:xfrm>
            <a:off x="8202740" y="5833872"/>
            <a:ext cx="10919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</a:t>
            </a:r>
            <a:endParaRPr lang="en-US" sz="870" dirty="0"/>
          </a:p>
        </p:txBody>
      </p:sp>
      <p:sp>
        <p:nvSpPr>
          <p:cNvPr id="106" name="Text 86"/>
          <p:cNvSpPr/>
          <p:nvPr/>
        </p:nvSpPr>
        <p:spPr>
          <a:xfrm>
            <a:off x="9349511" y="5833872"/>
            <a:ext cx="10919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Streamlit</a:t>
            </a:r>
            <a:endParaRPr lang="en-US" sz="870" dirty="0"/>
          </a:p>
        </p:txBody>
      </p:sp>
      <p:sp>
        <p:nvSpPr>
          <p:cNvPr id="107" name="Text 87"/>
          <p:cNvSpPr/>
          <p:nvPr/>
        </p:nvSpPr>
        <p:spPr>
          <a:xfrm>
            <a:off x="10496283" y="5833872"/>
            <a:ext cx="109190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</a:t>
            </a:r>
            <a:endParaRPr lang="en-US" sz="87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0B3B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CREW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554480" y="219456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FEASIBILITY AND VIABILITY</a:t>
            </a:r>
            <a:endParaRPr lang="en-US" sz="2700" dirty="0"/>
          </a:p>
        </p:txBody>
      </p:sp>
      <p:pic>
        <p:nvPicPr>
          <p:cNvPr id="5" name="Image 0" descr="sih_ful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417320" cy="669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932688"/>
            <a:ext cx="11277295" cy="0"/>
          </a:xfrm>
          <a:prstGeom prst="line">
            <a:avLst/>
          </a:prstGeom>
          <a:noFill/>
          <a:ln w="12700">
            <a:solidFill>
              <a:srgbClr val="C9D8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078992"/>
            <a:ext cx="3624986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1792" y="1225296"/>
            <a:ext cx="365760" cy="365760"/>
          </a:xfrm>
          <a:prstGeom prst="ellipse">
            <a:avLst/>
          </a:prstGeom>
          <a:solidFill>
            <a:srgbClr val="0B3B5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" y="1313078"/>
            <a:ext cx="190195" cy="19019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" y="1225296"/>
            <a:ext cx="28477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FEASIBILITY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694944" y="1700784"/>
            <a:ext cx="316778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6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Dataset-driven ML pipeline</a:t>
            </a:r>
            <a:endParaRPr lang="en-US" sz="96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6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Python-based implementation</a:t>
            </a:r>
            <a:endParaRPr lang="en-US" sz="96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6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anomaly detection</a:t>
            </a:r>
            <a:endParaRPr lang="en-US" sz="96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6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architecture</a:t>
            </a:r>
            <a:endParaRPr lang="en-US" sz="96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6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Integrates with existing govt. data systems</a:t>
            </a:r>
            <a:endParaRPr lang="en-US" sz="960" dirty="0"/>
          </a:p>
        </p:txBody>
      </p:sp>
      <p:sp>
        <p:nvSpPr>
          <p:cNvPr id="12" name="Shape 8"/>
          <p:cNvSpPr/>
          <p:nvPr/>
        </p:nvSpPr>
        <p:spPr>
          <a:xfrm>
            <a:off x="4283354" y="1078992"/>
            <a:ext cx="3624986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47946" y="1225296"/>
            <a:ext cx="365760" cy="365760"/>
          </a:xfrm>
          <a:prstGeom prst="ellipse">
            <a:avLst/>
          </a:prstGeom>
          <a:solidFill>
            <a:srgbClr val="146356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729" y="1313078"/>
            <a:ext cx="190195" cy="19019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05146" y="1225296"/>
            <a:ext cx="28477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46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ECONOMIC / OPERATIONAL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4521098" y="1700784"/>
            <a:ext cx="3167786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6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Software-first solution</a:t>
            </a:r>
            <a:endParaRPr lang="en-US" sz="96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6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specialized hardware required</a:t>
            </a:r>
            <a:endParaRPr lang="en-US" sz="96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6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monitoring reduces manual effort</a:t>
            </a:r>
            <a:endParaRPr lang="en-US" sz="96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6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Prioritizes limited human resources</a:t>
            </a:r>
            <a:endParaRPr lang="en-US" sz="96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6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Modular, phased deployment</a:t>
            </a:r>
            <a:endParaRPr lang="en-US" sz="960" dirty="0"/>
          </a:p>
        </p:txBody>
      </p:sp>
      <p:sp>
        <p:nvSpPr>
          <p:cNvPr id="17" name="Shape 12"/>
          <p:cNvSpPr/>
          <p:nvPr/>
        </p:nvSpPr>
        <p:spPr>
          <a:xfrm>
            <a:off x="8109509" y="1078992"/>
            <a:ext cx="3624986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274101" y="1225296"/>
            <a:ext cx="365760" cy="36576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1883" y="1313078"/>
            <a:ext cx="190195" cy="19019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731301" y="1225296"/>
            <a:ext cx="284774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&amp; MITIGATION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8347253" y="1682496"/>
            <a:ext cx="3167786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fraud labels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60" i="1" dirty="0">
                <a:solidFill>
                  <a:srgbClr val="146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Unsupervised detection + rules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8347253" y="1933042"/>
            <a:ext cx="3167786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positives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60" i="1" dirty="0">
                <a:solidFill>
                  <a:srgbClr val="146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Human verification + explainability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8347253" y="2183587"/>
            <a:ext cx="3167786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issues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60" i="1" dirty="0">
                <a:solidFill>
                  <a:srgbClr val="146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Validation + preprocessing</a:t>
            </a:r>
            <a:endParaRPr lang="en-US" sz="900" dirty="0"/>
          </a:p>
        </p:txBody>
      </p:sp>
      <p:sp>
        <p:nvSpPr>
          <p:cNvPr id="24" name="Text 18"/>
          <p:cNvSpPr/>
          <p:nvPr/>
        </p:nvSpPr>
        <p:spPr>
          <a:xfrm>
            <a:off x="8347253" y="2434133"/>
            <a:ext cx="3167786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drift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60" i="1" dirty="0">
                <a:solidFill>
                  <a:srgbClr val="146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Periodic retraining &amp; monitoring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347253" y="2684678"/>
            <a:ext cx="3167786" cy="2505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Sensitive govt. data</a:t>
            </a:r>
            <a:endParaRPr lang="en-US" sz="9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860" i="1" dirty="0">
                <a:solidFill>
                  <a:srgbClr val="146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Role-based access + secure deployment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457200" y="33009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FEASIBILITY</a:t>
            </a:r>
            <a:endParaRPr lang="en-US" sz="1250" dirty="0"/>
          </a:p>
        </p:txBody>
      </p:sp>
      <p:sp>
        <p:nvSpPr>
          <p:cNvPr id="27" name="Shape 21"/>
          <p:cNvSpPr/>
          <p:nvPr/>
        </p:nvSpPr>
        <p:spPr>
          <a:xfrm>
            <a:off x="457200" y="3666744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0B3B5C"/>
          </a:solidFill>
          <a:ln/>
        </p:spPr>
      </p:sp>
      <p:sp>
        <p:nvSpPr>
          <p:cNvPr id="28" name="Text 22"/>
          <p:cNvSpPr/>
          <p:nvPr/>
        </p:nvSpPr>
        <p:spPr>
          <a:xfrm>
            <a:off x="502920" y="366674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Data Integration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2258568" y="3950208"/>
            <a:ext cx="553898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 rot="5400000">
            <a:off x="2794178" y="3886200"/>
            <a:ext cx="109728" cy="128016"/>
          </a:xfrm>
          <a:prstGeom prst="triangle">
            <a:avLst/>
          </a:prstGeom>
          <a:solidFill>
            <a:srgbClr val="B8860B"/>
          </a:solidFill>
          <a:ln/>
        </p:spPr>
      </p:sp>
      <p:sp>
        <p:nvSpPr>
          <p:cNvPr id="31" name="Shape 25"/>
          <p:cNvSpPr/>
          <p:nvPr/>
        </p:nvSpPr>
        <p:spPr>
          <a:xfrm>
            <a:off x="2830754" y="3666744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32" name="Text 26"/>
          <p:cNvSpPr/>
          <p:nvPr/>
        </p:nvSpPr>
        <p:spPr>
          <a:xfrm>
            <a:off x="2876474" y="366674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Analytics &amp; ML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4632122" y="3950208"/>
            <a:ext cx="553898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 rot="5400000">
            <a:off x="5167732" y="3886200"/>
            <a:ext cx="109728" cy="128016"/>
          </a:xfrm>
          <a:prstGeom prst="triangle">
            <a:avLst/>
          </a:prstGeom>
          <a:solidFill>
            <a:srgbClr val="B8860B"/>
          </a:solidFill>
          <a:ln/>
        </p:spPr>
      </p:sp>
      <p:sp>
        <p:nvSpPr>
          <p:cNvPr id="35" name="Shape 29"/>
          <p:cNvSpPr/>
          <p:nvPr/>
        </p:nvSpPr>
        <p:spPr>
          <a:xfrm>
            <a:off x="5204308" y="3666744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0B3B5C"/>
          </a:solidFill>
          <a:ln/>
        </p:spPr>
      </p:sp>
      <p:sp>
        <p:nvSpPr>
          <p:cNvPr id="36" name="Text 30"/>
          <p:cNvSpPr/>
          <p:nvPr/>
        </p:nvSpPr>
        <p:spPr>
          <a:xfrm>
            <a:off x="5250028" y="366674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Dashboard</a:t>
            </a:r>
            <a:endParaRPr lang="en-US" sz="1000" dirty="0"/>
          </a:p>
        </p:txBody>
      </p:sp>
      <p:sp>
        <p:nvSpPr>
          <p:cNvPr id="37" name="Shape 31"/>
          <p:cNvSpPr/>
          <p:nvPr/>
        </p:nvSpPr>
        <p:spPr>
          <a:xfrm>
            <a:off x="7005676" y="3950208"/>
            <a:ext cx="553898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 rot="5400000">
            <a:off x="7541285" y="3886200"/>
            <a:ext cx="109728" cy="128016"/>
          </a:xfrm>
          <a:prstGeom prst="triangle">
            <a:avLst/>
          </a:prstGeom>
          <a:solidFill>
            <a:srgbClr val="B8860B"/>
          </a:solidFill>
          <a:ln/>
        </p:spPr>
      </p:sp>
      <p:sp>
        <p:nvSpPr>
          <p:cNvPr id="39" name="Shape 33"/>
          <p:cNvSpPr/>
          <p:nvPr/>
        </p:nvSpPr>
        <p:spPr>
          <a:xfrm>
            <a:off x="7577861" y="3666744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1C7293"/>
          </a:solidFill>
          <a:ln/>
        </p:spPr>
      </p:sp>
      <p:sp>
        <p:nvSpPr>
          <p:cNvPr id="40" name="Text 34"/>
          <p:cNvSpPr/>
          <p:nvPr/>
        </p:nvSpPr>
        <p:spPr>
          <a:xfrm>
            <a:off x="7623581" y="366674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Pilot Deployment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9379229" y="3950208"/>
            <a:ext cx="553898" cy="0"/>
          </a:xfrm>
          <a:prstGeom prst="line">
            <a:avLst/>
          </a:prstGeom>
          <a:noFill/>
          <a:ln w="25400">
            <a:solidFill>
              <a:srgbClr val="B8860B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 rot="5400000">
            <a:off x="9914839" y="3886200"/>
            <a:ext cx="109728" cy="128016"/>
          </a:xfrm>
          <a:prstGeom prst="triangle">
            <a:avLst/>
          </a:prstGeom>
          <a:solidFill>
            <a:srgbClr val="B8860B"/>
          </a:solidFill>
          <a:ln/>
        </p:spPr>
      </p:sp>
      <p:sp>
        <p:nvSpPr>
          <p:cNvPr id="43" name="Shape 37"/>
          <p:cNvSpPr/>
          <p:nvPr/>
        </p:nvSpPr>
        <p:spPr>
          <a:xfrm>
            <a:off x="9951415" y="3666744"/>
            <a:ext cx="1783080" cy="566928"/>
          </a:xfrm>
          <a:prstGeom prst="roundRect">
            <a:avLst>
              <a:gd name="adj" fmla="val 9677"/>
            </a:avLst>
          </a:prstGeom>
          <a:solidFill>
            <a:srgbClr val="0B3B5C"/>
          </a:solidFill>
          <a:ln/>
        </p:spPr>
      </p:sp>
      <p:sp>
        <p:nvSpPr>
          <p:cNvPr id="44" name="Text 38"/>
          <p:cNvSpPr/>
          <p:nvPr/>
        </p:nvSpPr>
        <p:spPr>
          <a:xfrm>
            <a:off x="9997135" y="3666744"/>
            <a:ext cx="1691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Scale Across Regions</a:t>
            </a:r>
            <a:endParaRPr lang="en-US" sz="1000" dirty="0"/>
          </a:p>
        </p:txBody>
      </p:sp>
      <p:sp>
        <p:nvSpPr>
          <p:cNvPr id="45" name="Shape 39"/>
          <p:cNvSpPr/>
          <p:nvPr/>
        </p:nvSpPr>
        <p:spPr>
          <a:xfrm>
            <a:off x="457200" y="4617720"/>
            <a:ext cx="3624986" cy="1417320"/>
          </a:xfrm>
          <a:prstGeom prst="roundRect">
            <a:avLst>
              <a:gd name="adj" fmla="val 5806"/>
            </a:avLst>
          </a:prstGeom>
          <a:solidFill>
            <a:srgbClr val="F2F6F9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46" name="Shape 40"/>
          <p:cNvSpPr/>
          <p:nvPr/>
        </p:nvSpPr>
        <p:spPr>
          <a:xfrm>
            <a:off x="621792" y="4764024"/>
            <a:ext cx="347472" cy="347472"/>
          </a:xfrm>
          <a:prstGeom prst="ellipse">
            <a:avLst/>
          </a:prstGeom>
          <a:solidFill>
            <a:srgbClr val="0B3B5C"/>
          </a:solidFill>
          <a:ln/>
        </p:spPr>
      </p:sp>
      <p:pic>
        <p:nvPicPr>
          <p:cNvPr id="4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5185" y="4847417"/>
            <a:ext cx="180685" cy="180685"/>
          </a:xfrm>
          <a:prstGeom prst="rect">
            <a:avLst/>
          </a:prstGeom>
        </p:spPr>
      </p:pic>
      <p:sp>
        <p:nvSpPr>
          <p:cNvPr id="48" name="Text 41"/>
          <p:cNvSpPr/>
          <p:nvPr/>
        </p:nvSpPr>
        <p:spPr>
          <a:xfrm>
            <a:off x="1060704" y="4764024"/>
            <a:ext cx="28477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0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COMPLIANCE</a:t>
            </a:r>
            <a:endParaRPr lang="en-US" sz="1080" dirty="0"/>
          </a:p>
        </p:txBody>
      </p:sp>
      <p:sp>
        <p:nvSpPr>
          <p:cNvPr id="49" name="Text 42"/>
          <p:cNvSpPr/>
          <p:nvPr/>
        </p:nvSpPr>
        <p:spPr>
          <a:xfrm>
            <a:off x="694944" y="5184648"/>
            <a:ext cx="316778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2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92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2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storage &amp; transfer</a:t>
            </a:r>
            <a:endParaRPr lang="en-US" sz="92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2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of alerts &amp; actions</a:t>
            </a:r>
            <a:endParaRPr lang="en-US" sz="920" dirty="0"/>
          </a:p>
        </p:txBody>
      </p:sp>
      <p:sp>
        <p:nvSpPr>
          <p:cNvPr id="50" name="Shape 43"/>
          <p:cNvSpPr/>
          <p:nvPr/>
        </p:nvSpPr>
        <p:spPr>
          <a:xfrm>
            <a:off x="4283354" y="4617720"/>
            <a:ext cx="3624986" cy="1417320"/>
          </a:xfrm>
          <a:prstGeom prst="roundRect">
            <a:avLst>
              <a:gd name="adj" fmla="val 5806"/>
            </a:avLst>
          </a:prstGeom>
          <a:solidFill>
            <a:srgbClr val="F2F6F9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51" name="Shape 44"/>
          <p:cNvSpPr/>
          <p:nvPr/>
        </p:nvSpPr>
        <p:spPr>
          <a:xfrm>
            <a:off x="4447946" y="4764024"/>
            <a:ext cx="347472" cy="347472"/>
          </a:xfrm>
          <a:prstGeom prst="ellipse">
            <a:avLst/>
          </a:prstGeom>
          <a:solidFill>
            <a:srgbClr val="146356"/>
          </a:solidFill>
          <a:ln/>
        </p:spPr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31340" y="4847417"/>
            <a:ext cx="180685" cy="180685"/>
          </a:xfrm>
          <a:prstGeom prst="rect">
            <a:avLst/>
          </a:prstGeom>
        </p:spPr>
      </p:pic>
      <p:sp>
        <p:nvSpPr>
          <p:cNvPr id="53" name="Text 45"/>
          <p:cNvSpPr/>
          <p:nvPr/>
        </p:nvSpPr>
        <p:spPr>
          <a:xfrm>
            <a:off x="4886858" y="4764024"/>
            <a:ext cx="28477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146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080" dirty="0"/>
          </a:p>
        </p:txBody>
      </p:sp>
      <p:sp>
        <p:nvSpPr>
          <p:cNvPr id="54" name="Text 46"/>
          <p:cNvSpPr/>
          <p:nvPr/>
        </p:nvSpPr>
        <p:spPr>
          <a:xfrm>
            <a:off x="4521098" y="5184648"/>
            <a:ext cx="316778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2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Cloud-ready, modular add-ons</a:t>
            </a:r>
            <a:endParaRPr lang="en-US" sz="92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2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across constituencies, districts, states</a:t>
            </a:r>
            <a:endParaRPr lang="en-US" sz="92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2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growing MPLADS data volumes</a:t>
            </a:r>
            <a:endParaRPr lang="en-US" sz="920" dirty="0"/>
          </a:p>
        </p:txBody>
      </p:sp>
      <p:sp>
        <p:nvSpPr>
          <p:cNvPr id="55" name="Shape 47"/>
          <p:cNvSpPr/>
          <p:nvPr/>
        </p:nvSpPr>
        <p:spPr>
          <a:xfrm>
            <a:off x="8109509" y="4617720"/>
            <a:ext cx="3624986" cy="1417320"/>
          </a:xfrm>
          <a:prstGeom prst="roundRect">
            <a:avLst>
              <a:gd name="adj" fmla="val 5806"/>
            </a:avLst>
          </a:prstGeom>
          <a:solidFill>
            <a:srgbClr val="F2F6F9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56" name="Shape 48"/>
          <p:cNvSpPr/>
          <p:nvPr/>
        </p:nvSpPr>
        <p:spPr>
          <a:xfrm>
            <a:off x="8274101" y="4764024"/>
            <a:ext cx="347472" cy="347472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5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357494" y="4847417"/>
            <a:ext cx="180685" cy="180685"/>
          </a:xfrm>
          <a:prstGeom prst="rect">
            <a:avLst/>
          </a:prstGeom>
        </p:spPr>
      </p:pic>
      <p:sp>
        <p:nvSpPr>
          <p:cNvPr id="58" name="Text 49"/>
          <p:cNvSpPr/>
          <p:nvPr/>
        </p:nvSpPr>
        <p:spPr>
          <a:xfrm>
            <a:off x="8713013" y="4764024"/>
            <a:ext cx="284774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8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SUSTAINABILITY</a:t>
            </a:r>
            <a:endParaRPr lang="en-US" sz="1080" dirty="0"/>
          </a:p>
        </p:txBody>
      </p:sp>
      <p:sp>
        <p:nvSpPr>
          <p:cNvPr id="59" name="Text 50"/>
          <p:cNvSpPr/>
          <p:nvPr/>
        </p:nvSpPr>
        <p:spPr>
          <a:xfrm>
            <a:off x="8347253" y="5184648"/>
            <a:ext cx="3167786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2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manual intervention</a:t>
            </a:r>
            <a:endParaRPr lang="en-US" sz="92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2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existing government data systems</a:t>
            </a:r>
            <a:endParaRPr lang="en-US" sz="92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2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ongoing operational overhead</a:t>
            </a:r>
            <a:endParaRPr lang="en-US" sz="9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0B3B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CREW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554480" y="219456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 AND BENEFITS</a:t>
            </a:r>
            <a:endParaRPr lang="en-US" sz="2700" dirty="0"/>
          </a:p>
        </p:txBody>
      </p:sp>
      <p:pic>
        <p:nvPicPr>
          <p:cNvPr id="5" name="Image 0" descr="sih_ful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417320" cy="669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932688"/>
            <a:ext cx="11277295" cy="0"/>
          </a:xfrm>
          <a:prstGeom prst="line">
            <a:avLst/>
          </a:prstGeom>
          <a:noFill/>
          <a:ln w="12700">
            <a:solidFill>
              <a:srgbClr val="C9D8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097280"/>
            <a:ext cx="1755648" cy="658368"/>
          </a:xfrm>
          <a:prstGeom prst="roundRect">
            <a:avLst>
              <a:gd name="adj" fmla="val 12500"/>
            </a:avLst>
          </a:prstGeom>
          <a:solidFill>
            <a:srgbClr val="F2F6F9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48640" y="1252728"/>
            <a:ext cx="347472" cy="347472"/>
          </a:xfrm>
          <a:prstGeom prst="ellipse">
            <a:avLst/>
          </a:prstGeom>
          <a:solidFill>
            <a:srgbClr val="0B3B5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033" y="1336121"/>
            <a:ext cx="180685" cy="18068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932688" y="1143000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MPLADS DATA</a:t>
            </a:r>
            <a:endParaRPr lang="en-US" sz="860" dirty="0"/>
          </a:p>
        </p:txBody>
      </p:sp>
      <p:sp>
        <p:nvSpPr>
          <p:cNvPr id="11" name="Shape 7"/>
          <p:cNvSpPr/>
          <p:nvPr/>
        </p:nvSpPr>
        <p:spPr>
          <a:xfrm>
            <a:off x="2231136" y="1426464"/>
            <a:ext cx="112105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 rot="5400000">
            <a:off x="2324953" y="1362456"/>
            <a:ext cx="109728" cy="128016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13" name="Shape 9"/>
          <p:cNvSpPr/>
          <p:nvPr/>
        </p:nvSpPr>
        <p:spPr>
          <a:xfrm>
            <a:off x="2361529" y="1097280"/>
            <a:ext cx="1755648" cy="658368"/>
          </a:xfrm>
          <a:prstGeom prst="roundRect">
            <a:avLst>
              <a:gd name="adj" fmla="val 12500"/>
            </a:avLst>
          </a:prstGeom>
          <a:solidFill>
            <a:srgbClr val="F2F6F9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2452969" y="1252728"/>
            <a:ext cx="347472" cy="34747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6363" y="1336121"/>
            <a:ext cx="180685" cy="18068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2837017" y="1143000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</a:t>
            </a:r>
            <a:endParaRPr lang="en-US" sz="860" dirty="0"/>
          </a:p>
          <a:p>
            <a:pPr marL="0" indent="0">
              <a:buNone/>
            </a:pPr>
            <a:r>
              <a:rPr lang="en-US" sz="86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860" dirty="0"/>
          </a:p>
        </p:txBody>
      </p:sp>
      <p:sp>
        <p:nvSpPr>
          <p:cNvPr id="17" name="Shape 12"/>
          <p:cNvSpPr/>
          <p:nvPr/>
        </p:nvSpPr>
        <p:spPr>
          <a:xfrm>
            <a:off x="4135465" y="1426464"/>
            <a:ext cx="112105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18" name="Shape 13"/>
          <p:cNvSpPr/>
          <p:nvPr/>
        </p:nvSpPr>
        <p:spPr>
          <a:xfrm rot="5400000">
            <a:off x="4229283" y="1362456"/>
            <a:ext cx="109728" cy="128016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19" name="Shape 14"/>
          <p:cNvSpPr/>
          <p:nvPr/>
        </p:nvSpPr>
        <p:spPr>
          <a:xfrm>
            <a:off x="4265859" y="1097280"/>
            <a:ext cx="1755648" cy="658368"/>
          </a:xfrm>
          <a:prstGeom prst="roundRect">
            <a:avLst>
              <a:gd name="adj" fmla="val 12500"/>
            </a:avLst>
          </a:prstGeom>
          <a:solidFill>
            <a:srgbClr val="F2F6F9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4357299" y="1252728"/>
            <a:ext cx="347472" cy="347472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40692" y="1336121"/>
            <a:ext cx="180685" cy="18068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741347" y="1143000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860" dirty="0"/>
          </a:p>
          <a:p>
            <a:pPr marL="0" indent="0">
              <a:buNone/>
            </a:pPr>
            <a:r>
              <a:rPr lang="en-US" sz="86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PRIORITIZATION</a:t>
            </a:r>
            <a:endParaRPr lang="en-US" sz="860" dirty="0"/>
          </a:p>
        </p:txBody>
      </p:sp>
      <p:sp>
        <p:nvSpPr>
          <p:cNvPr id="23" name="Shape 17"/>
          <p:cNvSpPr/>
          <p:nvPr/>
        </p:nvSpPr>
        <p:spPr>
          <a:xfrm>
            <a:off x="6039795" y="1426464"/>
            <a:ext cx="112105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 rot="5400000">
            <a:off x="6133612" y="1362456"/>
            <a:ext cx="109728" cy="128016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25" name="Shape 19"/>
          <p:cNvSpPr/>
          <p:nvPr/>
        </p:nvSpPr>
        <p:spPr>
          <a:xfrm>
            <a:off x="6170188" y="1097280"/>
            <a:ext cx="1755648" cy="658368"/>
          </a:xfrm>
          <a:prstGeom prst="roundRect">
            <a:avLst>
              <a:gd name="adj" fmla="val 12500"/>
            </a:avLst>
          </a:prstGeom>
          <a:solidFill>
            <a:srgbClr val="F2F6F9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261628" y="1252728"/>
            <a:ext cx="347472" cy="347472"/>
          </a:xfrm>
          <a:prstGeom prst="ellipse">
            <a:avLst/>
          </a:prstGeom>
          <a:solidFill>
            <a:srgbClr val="E67E22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45022" y="1336121"/>
            <a:ext cx="180685" cy="180685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645676" y="1143000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TIMELY</a:t>
            </a:r>
            <a:endParaRPr lang="en-US" sz="860" dirty="0"/>
          </a:p>
          <a:p>
            <a:pPr marL="0" indent="0">
              <a:buNone/>
            </a:pPr>
            <a:r>
              <a:rPr lang="en-US" sz="86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860" dirty="0"/>
          </a:p>
        </p:txBody>
      </p:sp>
      <p:sp>
        <p:nvSpPr>
          <p:cNvPr id="29" name="Shape 22"/>
          <p:cNvSpPr/>
          <p:nvPr/>
        </p:nvSpPr>
        <p:spPr>
          <a:xfrm>
            <a:off x="7944124" y="1426464"/>
            <a:ext cx="112105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 rot="5400000">
            <a:off x="8037942" y="1362456"/>
            <a:ext cx="109728" cy="128016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31" name="Shape 24"/>
          <p:cNvSpPr/>
          <p:nvPr/>
        </p:nvSpPr>
        <p:spPr>
          <a:xfrm>
            <a:off x="8074518" y="1097280"/>
            <a:ext cx="1755648" cy="658368"/>
          </a:xfrm>
          <a:prstGeom prst="roundRect">
            <a:avLst>
              <a:gd name="adj" fmla="val 12500"/>
            </a:avLst>
          </a:prstGeom>
          <a:solidFill>
            <a:srgbClr val="F2F6F9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8165958" y="1252728"/>
            <a:ext cx="347472" cy="347472"/>
          </a:xfrm>
          <a:prstGeom prst="ellipse">
            <a:avLst/>
          </a:prstGeom>
          <a:solidFill>
            <a:srgbClr val="146356"/>
          </a:solidFill>
          <a:ln/>
        </p:spPr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49351" y="1336121"/>
            <a:ext cx="180685" cy="180685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550006" y="1143000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</a:t>
            </a:r>
            <a:endParaRPr lang="en-US" sz="860" dirty="0"/>
          </a:p>
          <a:p>
            <a:pPr marL="0" indent="0">
              <a:buNone/>
            </a:pPr>
            <a:r>
              <a:rPr lang="en-US" sz="86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860" dirty="0"/>
          </a:p>
        </p:txBody>
      </p:sp>
      <p:sp>
        <p:nvSpPr>
          <p:cNvPr id="35" name="Shape 27"/>
          <p:cNvSpPr/>
          <p:nvPr/>
        </p:nvSpPr>
        <p:spPr>
          <a:xfrm>
            <a:off x="9848454" y="1426464"/>
            <a:ext cx="112105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 rot="5400000">
            <a:off x="9942271" y="1362456"/>
            <a:ext cx="109728" cy="128016"/>
          </a:xfrm>
          <a:prstGeom prst="triangle">
            <a:avLst/>
          </a:prstGeom>
          <a:solidFill>
            <a:srgbClr val="1C7293"/>
          </a:solidFill>
          <a:ln/>
        </p:spPr>
      </p:sp>
      <p:sp>
        <p:nvSpPr>
          <p:cNvPr id="37" name="Shape 29"/>
          <p:cNvSpPr/>
          <p:nvPr/>
        </p:nvSpPr>
        <p:spPr>
          <a:xfrm>
            <a:off x="9978847" y="1097280"/>
            <a:ext cx="1755648" cy="658368"/>
          </a:xfrm>
          <a:prstGeom prst="roundRect">
            <a:avLst>
              <a:gd name="adj" fmla="val 12500"/>
            </a:avLst>
          </a:prstGeom>
          <a:solidFill>
            <a:srgbClr val="F2F6F9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10070287" y="1252728"/>
            <a:ext cx="347472" cy="347472"/>
          </a:xfrm>
          <a:prstGeom prst="ellipse">
            <a:avLst/>
          </a:prstGeom>
          <a:solidFill>
            <a:srgbClr val="0E6E5C"/>
          </a:solidFill>
          <a:ln/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153680" y="1336121"/>
            <a:ext cx="180685" cy="180685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10454335" y="1143000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6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 &amp;</a:t>
            </a:r>
            <a:endParaRPr lang="en-US" sz="860" dirty="0"/>
          </a:p>
          <a:p>
            <a:pPr marL="0" indent="0">
              <a:buNone/>
            </a:pPr>
            <a:r>
              <a:rPr lang="en-US" sz="86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860" dirty="0"/>
          </a:p>
        </p:txBody>
      </p:sp>
      <p:sp>
        <p:nvSpPr>
          <p:cNvPr id="41" name="Shape 32"/>
          <p:cNvSpPr/>
          <p:nvPr/>
        </p:nvSpPr>
        <p:spPr>
          <a:xfrm>
            <a:off x="457200" y="1984248"/>
            <a:ext cx="2695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42" name="Shape 33"/>
          <p:cNvSpPr/>
          <p:nvPr/>
        </p:nvSpPr>
        <p:spPr>
          <a:xfrm>
            <a:off x="1585684" y="2130552"/>
            <a:ext cx="438912" cy="438912"/>
          </a:xfrm>
          <a:prstGeom prst="ellipse">
            <a:avLst/>
          </a:prstGeom>
          <a:solidFill>
            <a:srgbClr val="0B3B5C"/>
          </a:solidFill>
          <a:ln/>
        </p:spPr>
      </p:sp>
      <p:pic>
        <p:nvPicPr>
          <p:cNvPr id="43" name="Image 7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91023" y="2235891"/>
            <a:ext cx="228234" cy="228234"/>
          </a:xfrm>
          <a:prstGeom prst="rect">
            <a:avLst/>
          </a:prstGeom>
        </p:spPr>
      </p:pic>
      <p:sp>
        <p:nvSpPr>
          <p:cNvPr id="44" name="Text 34"/>
          <p:cNvSpPr/>
          <p:nvPr/>
        </p:nvSpPr>
        <p:spPr>
          <a:xfrm>
            <a:off x="530352" y="2624328"/>
            <a:ext cx="254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TRANSPARENCY</a:t>
            </a:r>
            <a:endParaRPr lang="en-US" sz="1100" dirty="0"/>
          </a:p>
        </p:txBody>
      </p:sp>
      <p:sp>
        <p:nvSpPr>
          <p:cNvPr id="45" name="Text 35"/>
          <p:cNvSpPr/>
          <p:nvPr/>
        </p:nvSpPr>
        <p:spPr>
          <a:xfrm>
            <a:off x="585216" y="2898648"/>
            <a:ext cx="243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visibility into fund utilization and project execution.</a:t>
            </a:r>
            <a:endParaRPr lang="en-US" sz="880" dirty="0"/>
          </a:p>
        </p:txBody>
      </p:sp>
      <p:sp>
        <p:nvSpPr>
          <p:cNvPr id="46" name="Shape 36"/>
          <p:cNvSpPr/>
          <p:nvPr/>
        </p:nvSpPr>
        <p:spPr>
          <a:xfrm>
            <a:off x="3317672" y="1984248"/>
            <a:ext cx="2695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47" name="Shape 37"/>
          <p:cNvSpPr/>
          <p:nvPr/>
        </p:nvSpPr>
        <p:spPr>
          <a:xfrm>
            <a:off x="4446156" y="2130552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1495" y="2235891"/>
            <a:ext cx="228234" cy="228234"/>
          </a:xfrm>
          <a:prstGeom prst="rect">
            <a:avLst/>
          </a:prstGeom>
        </p:spPr>
      </p:pic>
      <p:sp>
        <p:nvSpPr>
          <p:cNvPr id="49" name="Text 38"/>
          <p:cNvSpPr/>
          <p:nvPr/>
        </p:nvSpPr>
        <p:spPr>
          <a:xfrm>
            <a:off x="3390824" y="2624328"/>
            <a:ext cx="254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100" dirty="0"/>
          </a:p>
        </p:txBody>
      </p:sp>
      <p:sp>
        <p:nvSpPr>
          <p:cNvPr id="50" name="Text 39"/>
          <p:cNvSpPr/>
          <p:nvPr/>
        </p:nvSpPr>
        <p:spPr>
          <a:xfrm>
            <a:off x="3445688" y="2898648"/>
            <a:ext cx="243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cases are prioritized for verification.</a:t>
            </a:r>
            <a:endParaRPr lang="en-US" sz="880" dirty="0"/>
          </a:p>
        </p:txBody>
      </p:sp>
      <p:sp>
        <p:nvSpPr>
          <p:cNvPr id="51" name="Shape 40"/>
          <p:cNvSpPr/>
          <p:nvPr/>
        </p:nvSpPr>
        <p:spPr>
          <a:xfrm>
            <a:off x="6178144" y="1984248"/>
            <a:ext cx="2695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52" name="Shape 41"/>
          <p:cNvSpPr/>
          <p:nvPr/>
        </p:nvSpPr>
        <p:spPr>
          <a:xfrm>
            <a:off x="7306628" y="2130552"/>
            <a:ext cx="438912" cy="438912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53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411966" y="2235891"/>
            <a:ext cx="228234" cy="228234"/>
          </a:xfrm>
          <a:prstGeom prst="rect">
            <a:avLst/>
          </a:prstGeom>
        </p:spPr>
      </p:pic>
      <p:sp>
        <p:nvSpPr>
          <p:cNvPr id="54" name="Text 42"/>
          <p:cNvSpPr/>
          <p:nvPr/>
        </p:nvSpPr>
        <p:spPr>
          <a:xfrm>
            <a:off x="6251296" y="2624328"/>
            <a:ext cx="254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100" dirty="0"/>
          </a:p>
        </p:txBody>
      </p:sp>
      <p:sp>
        <p:nvSpPr>
          <p:cNvPr id="55" name="Text 43"/>
          <p:cNvSpPr/>
          <p:nvPr/>
        </p:nvSpPr>
        <p:spPr>
          <a:xfrm>
            <a:off x="6306160" y="2898648"/>
            <a:ext cx="243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manual screening; authorities focus on critical cases.</a:t>
            </a:r>
            <a:endParaRPr lang="en-US" sz="880" dirty="0"/>
          </a:p>
        </p:txBody>
      </p:sp>
      <p:sp>
        <p:nvSpPr>
          <p:cNvPr id="56" name="Shape 44"/>
          <p:cNvSpPr/>
          <p:nvPr/>
        </p:nvSpPr>
        <p:spPr>
          <a:xfrm>
            <a:off x="9038615" y="1984248"/>
            <a:ext cx="269588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57" name="Shape 45"/>
          <p:cNvSpPr/>
          <p:nvPr/>
        </p:nvSpPr>
        <p:spPr>
          <a:xfrm>
            <a:off x="10167099" y="2130552"/>
            <a:ext cx="438912" cy="438912"/>
          </a:xfrm>
          <a:prstGeom prst="ellipse">
            <a:avLst/>
          </a:prstGeom>
          <a:solidFill>
            <a:srgbClr val="0E6E5C"/>
          </a:solidFill>
          <a:ln/>
        </p:spPr>
      </p:sp>
      <p:pic>
        <p:nvPicPr>
          <p:cNvPr id="58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72438" y="2235891"/>
            <a:ext cx="228234" cy="228234"/>
          </a:xfrm>
          <a:prstGeom prst="rect">
            <a:avLst/>
          </a:prstGeom>
        </p:spPr>
      </p:pic>
      <p:sp>
        <p:nvSpPr>
          <p:cNvPr id="59" name="Text 46"/>
          <p:cNvSpPr/>
          <p:nvPr/>
        </p:nvSpPr>
        <p:spPr>
          <a:xfrm>
            <a:off x="9111767" y="2624328"/>
            <a:ext cx="2549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6E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DECISIONS</a:t>
            </a:r>
            <a:endParaRPr lang="en-US" sz="1100" dirty="0"/>
          </a:p>
        </p:txBody>
      </p:sp>
      <p:sp>
        <p:nvSpPr>
          <p:cNvPr id="60" name="Text 47"/>
          <p:cNvSpPr/>
          <p:nvPr/>
        </p:nvSpPr>
        <p:spPr>
          <a:xfrm>
            <a:off x="9166631" y="2898648"/>
            <a:ext cx="24398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8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insights for MPs, district/state authorities &amp; MoSPI.</a:t>
            </a:r>
            <a:endParaRPr lang="en-US" sz="880" dirty="0"/>
          </a:p>
        </p:txBody>
      </p:sp>
      <p:sp>
        <p:nvSpPr>
          <p:cNvPr id="61" name="Shape 48"/>
          <p:cNvSpPr/>
          <p:nvPr/>
        </p:nvSpPr>
        <p:spPr>
          <a:xfrm>
            <a:off x="457200" y="3557016"/>
            <a:ext cx="6675120" cy="2843784"/>
          </a:xfrm>
          <a:prstGeom prst="roundRect">
            <a:avLst>
              <a:gd name="adj" fmla="val 2894"/>
            </a:avLst>
          </a:prstGeom>
          <a:solidFill>
            <a:srgbClr val="F2F6F9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62" name="Text 49"/>
          <p:cNvSpPr/>
          <p:nvPr/>
        </p:nvSpPr>
        <p:spPr>
          <a:xfrm>
            <a:off x="640080" y="3666744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BENEFITS</a:t>
            </a:r>
            <a:endParaRPr lang="en-US" sz="1200" dirty="0"/>
          </a:p>
        </p:txBody>
      </p:sp>
      <p:sp>
        <p:nvSpPr>
          <p:cNvPr id="63" name="Text 50"/>
          <p:cNvSpPr/>
          <p:nvPr/>
        </p:nvSpPr>
        <p:spPr>
          <a:xfrm>
            <a:off x="822960" y="4014216"/>
            <a:ext cx="2971800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2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 for delayed works</a:t>
            </a:r>
            <a:endParaRPr lang="en-US" sz="102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2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Identification of unusual expenditure</a:t>
            </a:r>
            <a:endParaRPr lang="en-US" sz="102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2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of potential duplicate works</a:t>
            </a:r>
            <a:endParaRPr lang="en-US" sz="102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2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deviation monitoring</a:t>
            </a:r>
            <a:endParaRPr lang="en-US" sz="1020" dirty="0"/>
          </a:p>
        </p:txBody>
      </p:sp>
      <p:sp>
        <p:nvSpPr>
          <p:cNvPr id="64" name="Text 51"/>
          <p:cNvSpPr/>
          <p:nvPr/>
        </p:nvSpPr>
        <p:spPr>
          <a:xfrm>
            <a:off x="3886200" y="4014216"/>
            <a:ext cx="2971800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2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utilization trends</a:t>
            </a:r>
            <a:endParaRPr lang="en-US" sz="102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2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Constituency / district / state comparisons</a:t>
            </a:r>
            <a:endParaRPr lang="en-US" sz="102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102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project-level risk alerts</a:t>
            </a:r>
            <a:endParaRPr lang="en-US" sz="1020" dirty="0"/>
          </a:p>
        </p:txBody>
      </p:sp>
      <p:sp>
        <p:nvSpPr>
          <p:cNvPr id="65" name="Shape 52"/>
          <p:cNvSpPr/>
          <p:nvPr/>
        </p:nvSpPr>
        <p:spPr>
          <a:xfrm>
            <a:off x="7315200" y="3557016"/>
            <a:ext cx="4419295" cy="2843784"/>
          </a:xfrm>
          <a:prstGeom prst="roundRect">
            <a:avLst>
              <a:gd name="adj" fmla="val 2894"/>
            </a:avLst>
          </a:prstGeom>
          <a:solidFill>
            <a:srgbClr val="11416B"/>
          </a:solidFill>
          <a:ln w="12700">
            <a:solidFill>
              <a:srgbClr val="11416B"/>
            </a:solidFill>
            <a:prstDash val="solid"/>
          </a:ln>
        </p:spPr>
      </p:sp>
      <p:sp>
        <p:nvSpPr>
          <p:cNvPr id="66" name="Text 53"/>
          <p:cNvSpPr/>
          <p:nvPr/>
        </p:nvSpPr>
        <p:spPr>
          <a:xfrm>
            <a:off x="7498080" y="3666744"/>
            <a:ext cx="4053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BENEFITS?</a:t>
            </a:r>
            <a:endParaRPr lang="en-US" sz="1200" dirty="0"/>
          </a:p>
        </p:txBody>
      </p:sp>
      <p:sp>
        <p:nvSpPr>
          <p:cNvPr id="67" name="Shape 54"/>
          <p:cNvSpPr/>
          <p:nvPr/>
        </p:nvSpPr>
        <p:spPr>
          <a:xfrm>
            <a:off x="7498080" y="4097426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8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68306" y="4167652"/>
            <a:ext cx="152156" cy="152156"/>
          </a:xfrm>
          <a:prstGeom prst="rect">
            <a:avLst/>
          </a:prstGeom>
        </p:spPr>
      </p:pic>
      <p:sp>
        <p:nvSpPr>
          <p:cNvPr id="69" name="Text 55"/>
          <p:cNvSpPr/>
          <p:nvPr/>
        </p:nvSpPr>
        <p:spPr>
          <a:xfrm>
            <a:off x="7882128" y="4014216"/>
            <a:ext cx="3687775" cy="459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of Parliament</a:t>
            </a:r>
            <a:endParaRPr lang="en-US" sz="950" dirty="0"/>
          </a:p>
        </p:txBody>
      </p:sp>
      <p:sp>
        <p:nvSpPr>
          <p:cNvPr id="70" name="Shape 56"/>
          <p:cNvSpPr/>
          <p:nvPr/>
        </p:nvSpPr>
        <p:spPr>
          <a:xfrm>
            <a:off x="7498080" y="4556455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568306" y="4626681"/>
            <a:ext cx="152156" cy="152156"/>
          </a:xfrm>
          <a:prstGeom prst="rect">
            <a:avLst/>
          </a:prstGeom>
        </p:spPr>
      </p:pic>
      <p:sp>
        <p:nvSpPr>
          <p:cNvPr id="72" name="Text 57"/>
          <p:cNvSpPr/>
          <p:nvPr/>
        </p:nvSpPr>
        <p:spPr>
          <a:xfrm>
            <a:off x="7882128" y="4473245"/>
            <a:ext cx="3687775" cy="459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District Authority</a:t>
            </a:r>
            <a:endParaRPr lang="en-US" sz="950" dirty="0"/>
          </a:p>
        </p:txBody>
      </p:sp>
      <p:sp>
        <p:nvSpPr>
          <p:cNvPr id="73" name="Shape 58"/>
          <p:cNvSpPr/>
          <p:nvPr/>
        </p:nvSpPr>
        <p:spPr>
          <a:xfrm>
            <a:off x="7498080" y="5015484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4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568306" y="5085710"/>
            <a:ext cx="152156" cy="152156"/>
          </a:xfrm>
          <a:prstGeom prst="rect">
            <a:avLst/>
          </a:prstGeom>
        </p:spPr>
      </p:pic>
      <p:sp>
        <p:nvSpPr>
          <p:cNvPr id="75" name="Text 59"/>
          <p:cNvSpPr/>
          <p:nvPr/>
        </p:nvSpPr>
        <p:spPr>
          <a:xfrm>
            <a:off x="7882128" y="4932274"/>
            <a:ext cx="3687775" cy="459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Nodal Authority</a:t>
            </a:r>
            <a:endParaRPr lang="en-US" sz="950" dirty="0"/>
          </a:p>
        </p:txBody>
      </p:sp>
      <p:sp>
        <p:nvSpPr>
          <p:cNvPr id="76" name="Shape 60"/>
          <p:cNvSpPr/>
          <p:nvPr/>
        </p:nvSpPr>
        <p:spPr>
          <a:xfrm>
            <a:off x="7498080" y="5474513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7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68306" y="5544739"/>
            <a:ext cx="152156" cy="152156"/>
          </a:xfrm>
          <a:prstGeom prst="rect">
            <a:avLst/>
          </a:prstGeom>
        </p:spPr>
      </p:pic>
      <p:sp>
        <p:nvSpPr>
          <p:cNvPr id="78" name="Text 61"/>
          <p:cNvSpPr/>
          <p:nvPr/>
        </p:nvSpPr>
        <p:spPr>
          <a:xfrm>
            <a:off x="7882128" y="5391302"/>
            <a:ext cx="3687775" cy="459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MoSPI / Ministry</a:t>
            </a:r>
            <a:endParaRPr lang="en-US" sz="950" dirty="0"/>
          </a:p>
        </p:txBody>
      </p:sp>
      <p:sp>
        <p:nvSpPr>
          <p:cNvPr id="79" name="Shape 62"/>
          <p:cNvSpPr/>
          <p:nvPr/>
        </p:nvSpPr>
        <p:spPr>
          <a:xfrm>
            <a:off x="7498080" y="5933542"/>
            <a:ext cx="292608" cy="292608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0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68306" y="6003768"/>
            <a:ext cx="152156" cy="152156"/>
          </a:xfrm>
          <a:prstGeom prst="rect">
            <a:avLst/>
          </a:prstGeom>
        </p:spPr>
      </p:pic>
      <p:sp>
        <p:nvSpPr>
          <p:cNvPr id="81" name="Text 63"/>
          <p:cNvSpPr/>
          <p:nvPr/>
        </p:nvSpPr>
        <p:spPr>
          <a:xfrm>
            <a:off x="7882128" y="5850331"/>
            <a:ext cx="3687775" cy="4590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Citizens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56032"/>
            <a:ext cx="1417320" cy="402336"/>
          </a:xfrm>
          <a:prstGeom prst="roundRect">
            <a:avLst>
              <a:gd name="adj" fmla="val 50000"/>
            </a:avLst>
          </a:prstGeom>
          <a:solidFill>
            <a:srgbClr val="0B3B5C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56032"/>
            <a:ext cx="1417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kern="0" spc="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CREW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554480" y="219456"/>
            <a:ext cx="88998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A25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AND REFERENCES</a:t>
            </a:r>
            <a:endParaRPr lang="en-US" sz="2700" dirty="0"/>
          </a:p>
        </p:txBody>
      </p:sp>
      <p:pic>
        <p:nvPicPr>
          <p:cNvPr id="5" name="Image 0" descr="sih_full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8615" y="146304"/>
            <a:ext cx="1417320" cy="66923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57200" y="932688"/>
            <a:ext cx="11277295" cy="0"/>
          </a:xfrm>
          <a:prstGeom prst="line">
            <a:avLst/>
          </a:prstGeom>
          <a:noFill/>
          <a:ln w="12700">
            <a:solidFill>
              <a:srgbClr val="C9D8E3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097280"/>
            <a:ext cx="3624986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1792" y="1243584"/>
            <a:ext cx="365760" cy="365760"/>
          </a:xfrm>
          <a:prstGeom prst="ellipse">
            <a:avLst/>
          </a:prstGeom>
          <a:solidFill>
            <a:srgbClr val="0B3B5C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574" y="1331366"/>
            <a:ext cx="190195" cy="190195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" y="1225296"/>
            <a:ext cx="28477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0B3B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 SOURCES</a:t>
            </a:r>
            <a:endParaRPr lang="en-US" sz="1130" dirty="0"/>
          </a:p>
        </p:txBody>
      </p:sp>
      <p:sp>
        <p:nvSpPr>
          <p:cNvPr id="11" name="Text 7"/>
          <p:cNvSpPr/>
          <p:nvPr/>
        </p:nvSpPr>
        <p:spPr>
          <a:xfrm>
            <a:off x="694944" y="1719072"/>
            <a:ext cx="316778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6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Official MPLADS / MoSPI portal</a:t>
            </a:r>
            <a:endParaRPr lang="en-US" sz="96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6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Uploaded MPLADS dataset (problem-statement reference)</a:t>
            </a:r>
            <a:endParaRPr lang="en-US" sz="96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6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India Hackathon 2026 — official problem statement 26102</a:t>
            </a:r>
            <a:endParaRPr lang="en-US" sz="960" dirty="0"/>
          </a:p>
        </p:txBody>
      </p:sp>
      <p:sp>
        <p:nvSpPr>
          <p:cNvPr id="12" name="Shape 8"/>
          <p:cNvSpPr/>
          <p:nvPr/>
        </p:nvSpPr>
        <p:spPr>
          <a:xfrm>
            <a:off x="4283354" y="1097280"/>
            <a:ext cx="3624986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447946" y="1243584"/>
            <a:ext cx="365760" cy="365760"/>
          </a:xfrm>
          <a:prstGeom prst="ellipse">
            <a:avLst/>
          </a:prstGeom>
          <a:solidFill>
            <a:srgbClr val="146356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5729" y="1331366"/>
            <a:ext cx="190195" cy="19019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05146" y="1225296"/>
            <a:ext cx="28477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1463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/ AI REFERENCE TOPICS</a:t>
            </a:r>
            <a:endParaRPr lang="en-US" sz="1130" dirty="0"/>
          </a:p>
        </p:txBody>
      </p:sp>
      <p:sp>
        <p:nvSpPr>
          <p:cNvPr id="16" name="Text 11"/>
          <p:cNvSpPr/>
          <p:nvPr/>
        </p:nvSpPr>
        <p:spPr>
          <a:xfrm>
            <a:off x="4521098" y="1719072"/>
            <a:ext cx="316778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6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— general literature</a:t>
            </a:r>
            <a:endParaRPr lang="en-US" sz="96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6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</a:t>
            </a:r>
            <a:endParaRPr lang="en-US" sz="96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6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Outlier Factor (LOF)</a:t>
            </a:r>
            <a:endParaRPr lang="en-US" sz="96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6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/ risk analytics approaches</a:t>
            </a:r>
            <a:endParaRPr lang="en-US" sz="96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6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text similarity for duplicate detection</a:t>
            </a:r>
            <a:endParaRPr lang="en-US" sz="96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6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AI (XAI) methods</a:t>
            </a:r>
            <a:endParaRPr lang="en-US" sz="960" dirty="0"/>
          </a:p>
        </p:txBody>
      </p:sp>
      <p:sp>
        <p:nvSpPr>
          <p:cNvPr id="17" name="Shape 12"/>
          <p:cNvSpPr/>
          <p:nvPr/>
        </p:nvSpPr>
        <p:spPr>
          <a:xfrm>
            <a:off x="8109509" y="1097280"/>
            <a:ext cx="3624986" cy="2331720"/>
          </a:xfrm>
          <a:prstGeom prst="roundRect">
            <a:avLst>
              <a:gd name="adj" fmla="val 3529"/>
            </a:avLst>
          </a:prstGeom>
          <a:solidFill>
            <a:srgbClr val="FFFFFF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8274101" y="1243584"/>
            <a:ext cx="365760" cy="365760"/>
          </a:xfrm>
          <a:prstGeom prst="ellipse">
            <a:avLst/>
          </a:prstGeom>
          <a:solidFill>
            <a:srgbClr val="B8860B"/>
          </a:solidFill>
          <a:ln/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1883" y="1331366"/>
            <a:ext cx="190195" cy="19019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8731301" y="1225296"/>
            <a:ext cx="284774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30" b="1" dirty="0">
                <a:solidFill>
                  <a:srgbClr val="B886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DOCUMENTATION</a:t>
            </a:r>
            <a:endParaRPr lang="en-US" sz="1130" dirty="0"/>
          </a:p>
        </p:txBody>
      </p:sp>
      <p:sp>
        <p:nvSpPr>
          <p:cNvPr id="21" name="Text 15"/>
          <p:cNvSpPr/>
          <p:nvPr/>
        </p:nvSpPr>
        <p:spPr>
          <a:xfrm>
            <a:off x="8347253" y="1719072"/>
            <a:ext cx="3167786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6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official documentation</a:t>
            </a:r>
            <a:endParaRPr lang="en-US" sz="96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6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/ NumPy documentation</a:t>
            </a:r>
            <a:endParaRPr lang="en-US" sz="96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6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documentation</a:t>
            </a:r>
            <a:endParaRPr lang="en-US" sz="96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6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libraries (embeddings / similarity)</a:t>
            </a:r>
            <a:endParaRPr lang="en-US" sz="960" dirty="0"/>
          </a:p>
          <a:p>
            <a:pPr marL="342900" indent="-342900">
              <a:spcAft>
                <a:spcPts val="600"/>
              </a:spcAft>
              <a:buSzPct val="100000"/>
              <a:buChar char="▪"/>
            </a:pPr>
            <a:r>
              <a:rPr lang="en-US" sz="960" dirty="0">
                <a:solidFill>
                  <a:srgbClr val="2E40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&amp; backend framework docs</a:t>
            </a:r>
            <a:endParaRPr lang="en-US" sz="960" dirty="0"/>
          </a:p>
        </p:txBody>
      </p:sp>
      <p:sp>
        <p:nvSpPr>
          <p:cNvPr id="22" name="Shape 16"/>
          <p:cNvSpPr/>
          <p:nvPr/>
        </p:nvSpPr>
        <p:spPr>
          <a:xfrm>
            <a:off x="457200" y="3703320"/>
            <a:ext cx="11277295" cy="566928"/>
          </a:xfrm>
          <a:prstGeom prst="roundRect">
            <a:avLst>
              <a:gd name="adj" fmla="val 14516"/>
            </a:avLst>
          </a:prstGeom>
          <a:solidFill>
            <a:srgbClr val="F2F6F9"/>
          </a:solidFill>
          <a:ln w="12700">
            <a:solidFill>
              <a:srgbClr val="C9D8E3"/>
            </a:solidFill>
            <a:prstDash val="solid"/>
          </a:ln>
          <a:effectLst>
            <a:outerShdw blurRad="76200" dist="25400" dir="5400000" algn="bl" rotWithShape="0">
              <a:srgbClr val="9AAFC0">
                <a:alpha val="35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658368" y="380390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150" y="3891686"/>
            <a:ext cx="190195" cy="190195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70432" y="3758184"/>
            <a:ext cx="10381183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technical references above are general/standard sources for the methods used. Where a specific paper, dataset statistic, or figure could not be verified against the uploaded materials, it has been intentionally left as a general reference category rather than a fabricated citation.</a:t>
            </a:r>
            <a:endParaRPr lang="en-US" sz="960" dirty="0"/>
          </a:p>
        </p:txBody>
      </p:sp>
      <p:sp>
        <p:nvSpPr>
          <p:cNvPr id="26" name="Text 19"/>
          <p:cNvSpPr/>
          <p:nvPr/>
        </p:nvSpPr>
        <p:spPr>
          <a:xfrm>
            <a:off x="457200" y="45262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LINKS</a:t>
            </a:r>
            <a:endParaRPr lang="en-US" sz="1200" dirty="0"/>
          </a:p>
        </p:txBody>
      </p:sp>
      <p:sp>
        <p:nvSpPr>
          <p:cNvPr id="27" name="Shape 20"/>
          <p:cNvSpPr/>
          <p:nvPr/>
        </p:nvSpPr>
        <p:spPr>
          <a:xfrm>
            <a:off x="457200" y="4910328"/>
            <a:ext cx="2695880" cy="1417320"/>
          </a:xfrm>
          <a:prstGeom prst="roundRect">
            <a:avLst>
              <a:gd name="adj" fmla="val 5806"/>
            </a:avLst>
          </a:prstGeom>
          <a:solidFill>
            <a:srgbClr val="11416B"/>
          </a:solidFill>
          <a:ln w="12700">
            <a:solidFill>
              <a:srgbClr val="11416B"/>
            </a:solidFill>
            <a:prstDash val="solid"/>
          </a:ln>
        </p:spPr>
      </p:sp>
      <p:sp>
        <p:nvSpPr>
          <p:cNvPr id="28" name="Shape 21"/>
          <p:cNvSpPr/>
          <p:nvPr/>
        </p:nvSpPr>
        <p:spPr>
          <a:xfrm>
            <a:off x="1603972" y="503834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9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00533" y="5134905"/>
            <a:ext cx="209215" cy="209215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530352" y="5495544"/>
            <a:ext cx="2549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960" dirty="0"/>
          </a:p>
        </p:txBody>
      </p:sp>
      <p:sp>
        <p:nvSpPr>
          <p:cNvPr id="31" name="Shape 23"/>
          <p:cNvSpPr/>
          <p:nvPr/>
        </p:nvSpPr>
        <p:spPr>
          <a:xfrm>
            <a:off x="3317672" y="4910328"/>
            <a:ext cx="2695880" cy="1417320"/>
          </a:xfrm>
          <a:prstGeom prst="roundRect">
            <a:avLst>
              <a:gd name="adj" fmla="val 5806"/>
            </a:avLst>
          </a:prstGeom>
          <a:solidFill>
            <a:srgbClr val="11416B"/>
          </a:solidFill>
          <a:ln w="12700">
            <a:solidFill>
              <a:srgbClr val="11416B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4464444" y="503834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3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61004" y="5134905"/>
            <a:ext cx="209215" cy="209215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3390824" y="5495544"/>
            <a:ext cx="2549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&amp; Data Dictionary</a:t>
            </a:r>
            <a:endParaRPr lang="en-US" sz="960" dirty="0"/>
          </a:p>
        </p:txBody>
      </p:sp>
      <p:sp>
        <p:nvSpPr>
          <p:cNvPr id="35" name="Shape 26"/>
          <p:cNvSpPr/>
          <p:nvPr/>
        </p:nvSpPr>
        <p:spPr>
          <a:xfrm>
            <a:off x="6178144" y="4910328"/>
            <a:ext cx="2695880" cy="1417320"/>
          </a:xfrm>
          <a:prstGeom prst="roundRect">
            <a:avLst>
              <a:gd name="adj" fmla="val 5806"/>
            </a:avLst>
          </a:prstGeom>
          <a:solidFill>
            <a:srgbClr val="11416B"/>
          </a:solidFill>
          <a:ln w="12700">
            <a:solidFill>
              <a:srgbClr val="11416B"/>
            </a:solidFill>
            <a:prstDash val="solid"/>
          </a:ln>
        </p:spPr>
      </p:sp>
      <p:sp>
        <p:nvSpPr>
          <p:cNvPr id="36" name="Shape 27"/>
          <p:cNvSpPr/>
          <p:nvPr/>
        </p:nvSpPr>
        <p:spPr>
          <a:xfrm>
            <a:off x="7324915" y="503834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7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21476" y="5134905"/>
            <a:ext cx="209215" cy="209215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6251296" y="5495544"/>
            <a:ext cx="2549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/ Demo Link</a:t>
            </a:r>
            <a:endParaRPr lang="en-US" sz="960" dirty="0"/>
          </a:p>
        </p:txBody>
      </p:sp>
      <p:sp>
        <p:nvSpPr>
          <p:cNvPr id="39" name="Shape 29"/>
          <p:cNvSpPr/>
          <p:nvPr/>
        </p:nvSpPr>
        <p:spPr>
          <a:xfrm>
            <a:off x="9038615" y="4910328"/>
            <a:ext cx="2695880" cy="1417320"/>
          </a:xfrm>
          <a:prstGeom prst="roundRect">
            <a:avLst>
              <a:gd name="adj" fmla="val 5806"/>
            </a:avLst>
          </a:prstGeom>
          <a:solidFill>
            <a:srgbClr val="11416B"/>
          </a:solidFill>
          <a:ln w="12700">
            <a:solidFill>
              <a:srgbClr val="11416B"/>
            </a:solidFill>
            <a:prstDash val="solid"/>
          </a:ln>
        </p:spPr>
      </p:sp>
      <p:sp>
        <p:nvSpPr>
          <p:cNvPr id="40" name="Shape 30"/>
          <p:cNvSpPr/>
          <p:nvPr/>
        </p:nvSpPr>
        <p:spPr>
          <a:xfrm>
            <a:off x="10185387" y="5038344"/>
            <a:ext cx="402336" cy="402336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1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281948" y="5134905"/>
            <a:ext cx="209215" cy="209215"/>
          </a:xfrm>
          <a:prstGeom prst="rect">
            <a:avLst/>
          </a:prstGeom>
        </p:spPr>
      </p:pic>
      <p:sp>
        <p:nvSpPr>
          <p:cNvPr id="42" name="Text 31"/>
          <p:cNvSpPr/>
          <p:nvPr/>
        </p:nvSpPr>
        <p:spPr>
          <a:xfrm>
            <a:off x="9111767" y="5495544"/>
            <a:ext cx="25495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Repository</a:t>
            </a:r>
            <a:endParaRPr lang="en-US" sz="96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721</Words>
  <Application>Microsoft Office PowerPoint</Application>
  <PresentationFormat>Widescreen</PresentationFormat>
  <Paragraphs>184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SIH 2026 Team</dc:creator>
  <cp:lastModifiedBy>R Monish - [CB.PS.I5DAS24033]</cp:lastModifiedBy>
  <cp:revision>3</cp:revision>
  <dcterms:created xsi:type="dcterms:W3CDTF">2026-08-30T03:22:40Z</dcterms:created>
  <dcterms:modified xsi:type="dcterms:W3CDTF">2026-08-30T04:44:55Z</dcterms:modified>
</cp:coreProperties>
</file>